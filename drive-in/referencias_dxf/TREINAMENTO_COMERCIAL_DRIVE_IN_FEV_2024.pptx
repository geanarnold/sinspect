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1207" r:id="rId2"/>
    <p:sldId id="258" r:id="rId3"/>
    <p:sldId id="1215" r:id="rId4"/>
    <p:sldId id="1216" r:id="rId5"/>
    <p:sldId id="1217" r:id="rId6"/>
    <p:sldId id="1223" r:id="rId7"/>
    <p:sldId id="1218" r:id="rId8"/>
    <p:sldId id="1219" r:id="rId9"/>
    <p:sldId id="1220" r:id="rId10"/>
    <p:sldId id="1221" r:id="rId11"/>
    <p:sldId id="1222" r:id="rId12"/>
    <p:sldId id="1224" r:id="rId13"/>
    <p:sldId id="1225" r:id="rId14"/>
    <p:sldId id="1226" r:id="rId15"/>
    <p:sldId id="1227" r:id="rId16"/>
    <p:sldId id="1228" r:id="rId17"/>
    <p:sldId id="1229" r:id="rId18"/>
    <p:sldId id="1238" r:id="rId19"/>
    <p:sldId id="1232" r:id="rId20"/>
    <p:sldId id="1233" r:id="rId21"/>
    <p:sldId id="1234" r:id="rId22"/>
    <p:sldId id="1235" r:id="rId23"/>
    <p:sldId id="1236" r:id="rId24"/>
    <p:sldId id="1237" r:id="rId25"/>
    <p:sldId id="1239" r:id="rId26"/>
    <p:sldId id="1240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8123"/>
    <a:srgbClr val="EF7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1263" autoAdjust="0"/>
  </p:normalViewPr>
  <p:slideViewPr>
    <p:cSldViewPr snapToGrid="0">
      <p:cViewPr varScale="1">
        <p:scale>
          <a:sx n="103" d="100"/>
          <a:sy n="103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1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A94F171-09C6-46F6-AB06-0FF03E5C3F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AED3FB1-D88A-4425-A156-7F8FC247DF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45624-95B1-4866-85EB-85773904529A}" type="datetimeFigureOut">
              <a:rPr lang="pt-BR" smtClean="0"/>
              <a:t>13/09/2024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E42E798-763F-4118-9B0E-194B7CAD6B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945905E-8BE0-48CF-B3F8-E8CC010719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F0BE8-0DAB-4BA0-A3BA-CDCADD56B2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774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3F081-DE62-4843-9F7D-1821BAB28D18}" type="datetimeFigureOut">
              <a:rPr lang="pt-BR" smtClean="0"/>
              <a:t>13/09/2024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27827-D3E0-4414-BF2F-21D54EF597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342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SER UTILIZADO COM IMAGEM NO FUNDO E TEXTO PEQUENO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27827-D3E0-4414-BF2F-21D54EF597F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778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166A2ED-1B87-4180-948A-615878775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0" y="1921428"/>
            <a:ext cx="10709149" cy="869397"/>
          </a:xfrm>
        </p:spPr>
        <p:txBody>
          <a:bodyPr>
            <a:normAutofit/>
          </a:bodyPr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63B1BC-3ECE-4A99-879D-83BF6CC4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EF34-8F9C-4C1E-B536-2282AAA96E0E}" type="datetimeFigureOut">
              <a:rPr lang="pt-BR" smtClean="0"/>
              <a:t>13/09/2024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AAA6F9-0604-4005-A35C-8EDCE6D79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54EEC7-2D03-423E-8395-124C8BB0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8FA10-35D9-42B7-AA38-1D76D9BE81BA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993C7AB-CF97-4FB3-8511-447B6428DB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3377"/>
            <a:ext cx="2020824" cy="202082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F49C257-3913-4C14-BB22-AAC72A65A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8" t="18155" r="17679" b="21855"/>
          <a:stretch/>
        </p:blipFill>
        <p:spPr>
          <a:xfrm>
            <a:off x="10672549" y="313899"/>
            <a:ext cx="982640" cy="1037229"/>
          </a:xfrm>
          <a:prstGeom prst="rect">
            <a:avLst/>
          </a:prstGeom>
        </p:spPr>
      </p:pic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041388E2-3823-4B47-B225-9A6EEF61647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0350" y="3056764"/>
            <a:ext cx="10515600" cy="20208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56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9E6E5-ED4E-447B-829A-1BB9A3A5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47430"/>
            <a:ext cx="10515599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A46BCA-C90B-448E-AD04-4ADD6643D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2381"/>
            <a:ext cx="10515600" cy="3324581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93D730-37E7-4512-A699-B90CF1084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EF34-8F9C-4C1E-B536-2282AAA96E0E}" type="datetimeFigureOut">
              <a:rPr lang="pt-BR" smtClean="0"/>
              <a:t>13/09/2024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7822FB-0172-4DF3-9704-C17704E2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09C413-5BCD-4B8F-BEF7-5E024331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8FA10-35D9-42B7-AA38-1D76D9BE81BA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D537C46-DB6D-495E-91B3-F566644122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8" t="18155" r="17679" b="21855"/>
          <a:stretch/>
        </p:blipFill>
        <p:spPr>
          <a:xfrm>
            <a:off x="10672549" y="313899"/>
            <a:ext cx="982640" cy="103722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C95E06F8-8029-4ECB-906F-FFBE530C84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631" y="209102"/>
            <a:ext cx="1384164" cy="98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50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ACDC3-090A-4794-98D8-5E68C106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02082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549776-649B-4168-82AF-F81837764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68827"/>
            <a:ext cx="10515600" cy="20208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73E127-758D-4545-BED6-8F8BAEF4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EF34-8F9C-4C1E-B536-2282AAA96E0E}" type="datetimeFigureOut">
              <a:rPr lang="pt-BR" smtClean="0"/>
              <a:t>13/09/2024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FD5C5C-9996-4568-B246-56AD3189D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09C13-F7D8-47AB-8851-463AB3D1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8FA10-35D9-42B7-AA38-1D76D9BE81BA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6D400B3-E525-488A-A829-F417BB8E85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3377"/>
            <a:ext cx="2020824" cy="202082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8AD079A-9B81-480F-AC23-3FBD8CA093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8" t="18155" r="17679" b="21855"/>
          <a:stretch/>
        </p:blipFill>
        <p:spPr>
          <a:xfrm>
            <a:off x="10672549" y="313899"/>
            <a:ext cx="982640" cy="103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26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8DB8EA-ED83-45CA-A3B3-F61DC4B77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02257"/>
            <a:ext cx="5181600" cy="3474706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1F9EF6-F13E-4114-97EF-E4B903224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02257"/>
            <a:ext cx="5181600" cy="3474706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B9C1D2-E75E-4655-9F6E-90A698164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EF34-8F9C-4C1E-B536-2282AAA96E0E}" type="datetimeFigureOut">
              <a:rPr lang="pt-BR" smtClean="0"/>
              <a:t>13/09/2024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CA1697-FAB8-465A-95AA-FCFE9FE1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29C51-6079-4168-8167-88A0B017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8FA10-35D9-42B7-AA38-1D76D9BE81BA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F1E3F21-1481-4000-A1BE-5FFFA5A28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8" t="18155" r="17679" b="21855"/>
          <a:stretch/>
        </p:blipFill>
        <p:spPr>
          <a:xfrm>
            <a:off x="10672549" y="313899"/>
            <a:ext cx="982640" cy="1037229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5D223921-C06A-498B-95F3-58EC53BAD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47430"/>
            <a:ext cx="10515599" cy="1325563"/>
          </a:xfrm>
        </p:spPr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15B4B7BE-EBA4-4613-B9F4-8561FB39E4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631" y="209102"/>
            <a:ext cx="1384164" cy="98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9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6C82A-0550-48BC-B1E6-E18ACC1D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0" y="1165542"/>
            <a:ext cx="4800600" cy="452691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EF7D00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002C0F-F18A-4EDE-B87E-E0C81163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EF7D00"/>
                </a:solidFill>
              </a:defRPr>
            </a:lvl1pPr>
          </a:lstStyle>
          <a:p>
            <a:fld id="{6874EF34-8F9C-4C1E-B536-2282AAA96E0E}" type="datetimeFigureOut">
              <a:rPr lang="pt-BR" smtClean="0"/>
              <a:pPr/>
              <a:t>13/09/2024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775188-3DB1-4656-9617-02A97FD4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F7D00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68CEDE-C56B-4C78-8540-09B964A3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F7D00"/>
                </a:solidFill>
              </a:defRPr>
            </a:lvl1pPr>
          </a:lstStyle>
          <a:p>
            <a:fld id="{46C8FA10-35D9-42B7-AA38-1D76D9BE81BA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E65D748-F389-4D3B-9904-BDE3DA65FC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4551" y="2214339"/>
            <a:ext cx="3233309" cy="21848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B30DA3C-5560-476C-B6EF-525328DB63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8" t="18155" r="17679" b="21855"/>
          <a:stretch/>
        </p:blipFill>
        <p:spPr>
          <a:xfrm>
            <a:off x="10672549" y="313899"/>
            <a:ext cx="982640" cy="103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8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4CE2CB0E-0580-411C-9FFC-AF694363B866}"/>
              </a:ext>
            </a:extLst>
          </p:cNvPr>
          <p:cNvSpPr/>
          <p:nvPr userDrawn="1"/>
        </p:nvSpPr>
        <p:spPr>
          <a:xfrm>
            <a:off x="-88899" y="0"/>
            <a:ext cx="12280900" cy="6858000"/>
          </a:xfrm>
          <a:prstGeom prst="rect">
            <a:avLst/>
          </a:prstGeom>
          <a:solidFill>
            <a:srgbClr val="EF7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5BA31252-E490-4199-9645-1854135CE0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8487" y="2936556"/>
            <a:ext cx="1384164" cy="98488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705C6C2-BBB5-4D63-AC02-3E5905F1ED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8" t="18155" r="17679" b="21855"/>
          <a:stretch/>
        </p:blipFill>
        <p:spPr>
          <a:xfrm>
            <a:off x="10672549" y="313899"/>
            <a:ext cx="982640" cy="1037229"/>
          </a:xfrm>
          <a:prstGeom prst="rect">
            <a:avLst/>
          </a:prstGeom>
        </p:spPr>
      </p:pic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002C0F-F18A-4EDE-B87E-E0C81163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874EF34-8F9C-4C1E-B536-2282AAA96E0E}" type="datetimeFigureOut">
              <a:rPr lang="pt-BR" smtClean="0"/>
              <a:pPr/>
              <a:t>13/09/2024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775188-3DB1-4656-9617-02A97FD4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68CEDE-C56B-4C78-8540-09B964A3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C8FA10-35D9-42B7-AA38-1D76D9BE81B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40BC332-F6E4-4042-A13E-4DA43A01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6384" y="289470"/>
            <a:ext cx="5718048" cy="57815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9138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6C82A-0550-48BC-B1E6-E18ACC1D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18048" cy="58547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002C0F-F18A-4EDE-B87E-E0C81163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EF34-8F9C-4C1E-B536-2282AAA96E0E}" type="datetimeFigureOut">
              <a:rPr lang="pt-BR" smtClean="0"/>
              <a:t>13/09/2024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775188-3DB1-4656-9617-02A97FD4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68CEDE-C56B-4C78-8540-09B964A3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8FA10-35D9-42B7-AA38-1D76D9BE81BA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17B4158-2702-41AF-8B86-D764C784F3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79" r="42198" b="18681"/>
          <a:stretch/>
        </p:blipFill>
        <p:spPr>
          <a:xfrm>
            <a:off x="5863651" y="-1"/>
            <a:ext cx="632834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4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DE5318E-175A-418D-8ADB-B94B74388F22}"/>
              </a:ext>
            </a:extLst>
          </p:cNvPr>
          <p:cNvSpPr/>
          <p:nvPr userDrawn="1"/>
        </p:nvSpPr>
        <p:spPr>
          <a:xfrm>
            <a:off x="0" y="0"/>
            <a:ext cx="12335256" cy="6931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4395247-D34B-4DB5-A5F3-5263CA1B66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046" b="18409"/>
          <a:stretch/>
        </p:blipFill>
        <p:spPr>
          <a:xfrm>
            <a:off x="5838911" y="-236127"/>
            <a:ext cx="6496345" cy="7167279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A6C82A-0550-48BC-B1E6-E18ACC1D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18048" cy="578154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002C0F-F18A-4EDE-B87E-E0C81163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874EF34-8F9C-4C1E-B536-2282AAA96E0E}" type="datetimeFigureOut">
              <a:rPr lang="pt-BR" smtClean="0"/>
              <a:pPr/>
              <a:t>13/09/2024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775188-3DB1-4656-9617-02A97FD4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68CEDE-C56B-4C78-8540-09B964A3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C8FA10-35D9-42B7-AA38-1D76D9BE81B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11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C11F2DC-6C0B-4657-A9DF-76C429192CC7}"/>
              </a:ext>
            </a:extLst>
          </p:cNvPr>
          <p:cNvSpPr/>
          <p:nvPr userDrawn="1"/>
        </p:nvSpPr>
        <p:spPr>
          <a:xfrm>
            <a:off x="0" y="0"/>
            <a:ext cx="12335256" cy="6931152"/>
          </a:xfrm>
          <a:prstGeom prst="rect">
            <a:avLst/>
          </a:prstGeom>
          <a:solidFill>
            <a:srgbClr val="0504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EF3AD17-38B5-4714-804E-FF3C356BC5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7" r="26046" b="18408"/>
          <a:stretch/>
        </p:blipFill>
        <p:spPr>
          <a:xfrm>
            <a:off x="5838911" y="177421"/>
            <a:ext cx="6496345" cy="6753731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A6C82A-0550-48BC-B1E6-E18ACC1D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18048" cy="578154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002C0F-F18A-4EDE-B87E-E0C81163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874EF34-8F9C-4C1E-B536-2282AAA96E0E}" type="datetimeFigureOut">
              <a:rPr lang="pt-BR" smtClean="0"/>
              <a:pPr/>
              <a:t>13/09/2024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4775188-3DB1-4656-9617-02A97FD4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68CEDE-C56B-4C78-8540-09B964A3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6C8FA10-35D9-42B7-AA38-1D76D9BE81B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394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8590F6-33E8-4DE9-B757-A26F0B69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EF34-8F9C-4C1E-B536-2282AAA96E0E}" type="datetimeFigureOut">
              <a:rPr lang="pt-BR" smtClean="0"/>
              <a:t>13/09/2024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734779-E11C-46C2-8C70-C907612F1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DFA264-6B90-482F-BF63-FB3B675F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8FA10-35D9-42B7-AA38-1D76D9BE81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80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8C685D-684E-4E08-9B38-70AAEEC29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EF34-8F9C-4C1E-B536-2282AAA96E0E}" type="datetimeFigureOut">
              <a:rPr lang="pt-BR" smtClean="0"/>
              <a:t>13/09/2024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AE0BE2-2507-4AB9-9382-FAEB0B0A4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3D2937-E81B-4037-BDA0-00AC131C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8FA10-35D9-42B7-AA38-1D76D9BE81BA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59A0253-78CA-429C-8780-C59EE5A40C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8" t="18155" r="17679" b="21855"/>
          <a:stretch/>
        </p:blipFill>
        <p:spPr>
          <a:xfrm>
            <a:off x="464024" y="5650174"/>
            <a:ext cx="982640" cy="1037229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AADFEFA2-1426-43D2-BFA9-CBD635EA7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654" y="1244772"/>
            <a:ext cx="10709149" cy="869397"/>
          </a:xfrm>
        </p:spPr>
        <p:txBody>
          <a:bodyPr>
            <a:normAutofit/>
          </a:bodyPr>
          <a:lstStyle>
            <a:lvl1pPr marL="0" indent="0" algn="l">
              <a:buNone/>
              <a:defRPr sz="3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12" name="Espaço Reservado para Texto 2">
            <a:extLst>
              <a:ext uri="{FF2B5EF4-FFF2-40B4-BE49-F238E27FC236}">
                <a16:creationId xmlns:a16="http://schemas.microsoft.com/office/drawing/2014/main" id="{3802FBB9-1C7C-4402-8B80-88912DB2D0E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9654" y="2723009"/>
            <a:ext cx="10515600" cy="20208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86031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20C1308-ED26-48AE-B2D1-E8C0B7F53169}"/>
              </a:ext>
            </a:extLst>
          </p:cNvPr>
          <p:cNvSpPr/>
          <p:nvPr userDrawn="1"/>
        </p:nvSpPr>
        <p:spPr>
          <a:xfrm>
            <a:off x="0" y="0"/>
            <a:ext cx="12636843" cy="696921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B771321-3833-49C0-8DE4-66E74A0EC0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97946" cy="6973845"/>
          </a:xfrm>
          <a:prstGeom prst="rect">
            <a:avLst/>
          </a:prstGeom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E0A6410-FA0D-4E68-9F06-09B26F64D021}"/>
              </a:ext>
            </a:extLst>
          </p:cNvPr>
          <p:cNvSpPr txBox="1"/>
          <p:nvPr userDrawn="1"/>
        </p:nvSpPr>
        <p:spPr>
          <a:xfrm>
            <a:off x="7450670" y="4708670"/>
            <a:ext cx="3867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+55 </a:t>
            </a:r>
            <a:r>
              <a:rPr lang="pt-BR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(37) 3381 1110 </a:t>
            </a:r>
          </a:p>
          <a:p>
            <a:r>
              <a:rPr lang="pt-BR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</a:t>
            </a:r>
            <a:r>
              <a:rPr lang="pt-BR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amapa</a:t>
            </a:r>
            <a:r>
              <a:rPr lang="pt-BR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.ind.br</a:t>
            </a:r>
            <a:endParaRPr lang="pt-BR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CE1982E-7BCB-4DFA-A44E-A02E427E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70" y="3568663"/>
            <a:ext cx="4015574" cy="341632"/>
          </a:xfrm>
          <a:noFill/>
        </p:spPr>
        <p:txBody>
          <a:bodyPr wrap="square" rtlCol="0">
            <a:spAutoFit/>
          </a:bodyPr>
          <a:lstStyle>
            <a:lvl1pPr>
              <a:defRPr lang="pt-BR" sz="1800">
                <a:solidFill>
                  <a:schemeClr val="bg1"/>
                </a:solidFill>
                <a:cs typeface="Verdana" panose="020B0604030504040204" pitchFamily="34" charset="0"/>
              </a:defRPr>
            </a:lvl1pPr>
          </a:lstStyle>
          <a:p>
            <a:pPr marL="0" lvl="0"/>
            <a:r>
              <a:rPr lang="pt-BR" dirty="0"/>
              <a:t>Clique para editar o título Mestre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DF9EB6-1553-45E2-AB60-79E85BDB48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670" y="2322715"/>
            <a:ext cx="3695866" cy="79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6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60AE803-D877-4AB4-98A8-C74278A7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7E185C-FDFE-4A4F-A580-20262B4E1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7FDD58-2517-4338-A367-5A47FD87D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6874EF34-8F9C-4C1E-B536-2282AAA96E0E}" type="datetimeFigureOut">
              <a:rPr lang="pt-BR" smtClean="0"/>
              <a:pPr/>
              <a:t>13/09/2024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6D5CC6-2A82-4C4F-BA44-98D1B2F7F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AB7E91-E4D8-460B-868B-820319F41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46C8FA10-35D9-42B7-AA38-1D76D9BE81BA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31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4" r:id="rId5"/>
    <p:sldLayoutId id="2147483665" r:id="rId6"/>
    <p:sldLayoutId id="2147483654" r:id="rId7"/>
    <p:sldLayoutId id="2147483663" r:id="rId8"/>
    <p:sldLayoutId id="2147483662" r:id="rId9"/>
    <p:sldLayoutId id="2147483655" r:id="rId10"/>
    <p:sldLayoutId id="2147483656" r:id="rId11"/>
    <p:sldLayoutId id="214748366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Planilha%20Levantamento%20de%20Peso%20Drive%20in%20%20-%20REV.00.xlsm" TargetMode="Externa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PROJETO%20MODELO%20DRIVE%20IN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AF2BCF22-35BE-4A15-BDDA-F4DCF82E88FD}"/>
              </a:ext>
            </a:extLst>
          </p:cNvPr>
          <p:cNvSpPr/>
          <p:nvPr/>
        </p:nvSpPr>
        <p:spPr>
          <a:xfrm>
            <a:off x="0" y="0"/>
            <a:ext cx="12280900" cy="6858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8D34378-EE3E-4427-810E-F872CA78B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060" y="2603408"/>
            <a:ext cx="6183657" cy="133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60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CE1F5FF-54B8-415D-B4E9-FCF30FF24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" y="-1"/>
            <a:ext cx="12182608" cy="686329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F15EB29-2106-473D-BE25-6CE4389F30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523" y="524533"/>
            <a:ext cx="1801685" cy="179479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CF552DA-A2F7-472D-B993-EEF7541BC1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4612"/>
            <a:ext cx="6208776" cy="620877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9BA2606-577F-45DB-8A8C-77837AB06551}"/>
              </a:ext>
            </a:extLst>
          </p:cNvPr>
          <p:cNvSpPr txBox="1"/>
          <p:nvPr/>
        </p:nvSpPr>
        <p:spPr>
          <a:xfrm>
            <a:off x="4261104" y="5144866"/>
            <a:ext cx="7726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Tecnologia</a:t>
            </a:r>
          </a:p>
        </p:txBody>
      </p:sp>
    </p:spTree>
    <p:extLst>
      <p:ext uri="{BB962C8B-B14F-4D97-AF65-F5344CB8AC3E}">
        <p14:creationId xmlns:p14="http://schemas.microsoft.com/office/powerpoint/2010/main" val="422721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5EC2A-0FE8-4EAB-949B-7B853388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14" y="1782858"/>
            <a:ext cx="8225971" cy="1325563"/>
          </a:xfrm>
        </p:spPr>
        <p:txBody>
          <a:bodyPr/>
          <a:lstStyle/>
          <a:p>
            <a:pPr algn="just"/>
            <a:r>
              <a:rPr lang="pt-BR" b="1" dirty="0"/>
              <a:t>TREINAMENTO DRIVE-IN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0FFCBE5-04A5-54F6-3894-31D30DF8E9B1}"/>
              </a:ext>
            </a:extLst>
          </p:cNvPr>
          <p:cNvSpPr txBox="1"/>
          <p:nvPr/>
        </p:nvSpPr>
        <p:spPr>
          <a:xfrm>
            <a:off x="0" y="5733142"/>
            <a:ext cx="4066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PÚBLICO: VENDAS POR PROJETO</a:t>
            </a:r>
          </a:p>
        </p:txBody>
      </p:sp>
    </p:spTree>
    <p:extLst>
      <p:ext uri="{BB962C8B-B14F-4D97-AF65-F5344CB8AC3E}">
        <p14:creationId xmlns:p14="http://schemas.microsoft.com/office/powerpoint/2010/main" val="260146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BA06-F3D1-F246-D1F7-3602C0035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EE40F11-19DB-DC49-41B6-975C7DCDA07D}"/>
              </a:ext>
            </a:extLst>
          </p:cNvPr>
          <p:cNvSpPr txBox="1"/>
          <p:nvPr/>
        </p:nvSpPr>
        <p:spPr>
          <a:xfrm>
            <a:off x="261256" y="1204686"/>
            <a:ext cx="5742341" cy="44851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rgbClr val="0070C0"/>
                </a:solidFill>
              </a:rPr>
              <a:t>ESCOPO:</a:t>
            </a:r>
          </a:p>
          <a:p>
            <a:endParaRPr lang="pt-BR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APLICAÇÃO DAS ESTRUTURAS DRIVE-IN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NORMAS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SISTEMA DRIVE-IN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PROJETO DRIVE-IN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PLANILHA DE SELEÇÃO DA COLUNA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PLANILHA DE LEVANTAMENTO DE PESO</a:t>
            </a:r>
          </a:p>
        </p:txBody>
      </p:sp>
    </p:spTree>
    <p:extLst>
      <p:ext uri="{BB962C8B-B14F-4D97-AF65-F5344CB8AC3E}">
        <p14:creationId xmlns:p14="http://schemas.microsoft.com/office/powerpoint/2010/main" val="887122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50C39-AD47-8DE5-2725-D43011F3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23B702B-2076-A9A3-D982-6AE16F82214E}"/>
              </a:ext>
            </a:extLst>
          </p:cNvPr>
          <p:cNvSpPr txBox="1"/>
          <p:nvPr/>
        </p:nvSpPr>
        <p:spPr>
          <a:xfrm>
            <a:off x="2140857" y="499098"/>
            <a:ext cx="791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APLICAÇÃO DAS ESTRUTURAS DRIVE-IN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D5A127-2C1F-0F6C-20DD-95810A7AF4D7}"/>
              </a:ext>
            </a:extLst>
          </p:cNvPr>
          <p:cNvSpPr txBox="1"/>
          <p:nvPr/>
        </p:nvSpPr>
        <p:spPr>
          <a:xfrm>
            <a:off x="159656" y="1983992"/>
            <a:ext cx="117130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xcelente solução de manuseio e estocagem de pallets em grande volume e com reduzida ocupação de área de um centro de distribuição ou área reservada para estoque de produtos.</a:t>
            </a:r>
          </a:p>
          <a:p>
            <a:pPr algn="just"/>
            <a:endParaRPr lang="pt-BR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BR" sz="2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286EB75-C472-3D7A-5063-20B52577FE32}"/>
              </a:ext>
            </a:extLst>
          </p:cNvPr>
          <p:cNvSpPr txBox="1"/>
          <p:nvPr/>
        </p:nvSpPr>
        <p:spPr>
          <a:xfrm>
            <a:off x="159655" y="3167743"/>
            <a:ext cx="11713029" cy="134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Como principal vantagem do sistema é a economia do espaço utilizado em um galpão devido ao reduzido número de corredores operacionais e </a:t>
            </a:r>
            <a:r>
              <a:rPr lang="pt-BR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alta concentração de pallets armazenados neste tipo de estrutura se compararmos com estrutura de porta pallet convencional</a:t>
            </a:r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114390-E9AE-F5B0-C412-D4A18AE77206}"/>
              </a:ext>
            </a:extLst>
          </p:cNvPr>
          <p:cNvSpPr txBox="1"/>
          <p:nvPr/>
        </p:nvSpPr>
        <p:spPr>
          <a:xfrm>
            <a:off x="159655" y="4807713"/>
            <a:ext cx="11713028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Vale ressaltar que a maioria dos sistemas de armazenagem tipo drive-in são utilizados para um único tipo de produto.</a:t>
            </a:r>
          </a:p>
        </p:txBody>
      </p:sp>
    </p:spTree>
    <p:extLst>
      <p:ext uri="{BB962C8B-B14F-4D97-AF65-F5344CB8AC3E}">
        <p14:creationId xmlns:p14="http://schemas.microsoft.com/office/powerpoint/2010/main" val="3243864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1E2D9-FB60-C23A-5A53-A7D485AAD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BBC8E36-0E21-5DB0-9C69-3894E1D21AFB}"/>
              </a:ext>
            </a:extLst>
          </p:cNvPr>
          <p:cNvSpPr txBox="1"/>
          <p:nvPr/>
        </p:nvSpPr>
        <p:spPr>
          <a:xfrm>
            <a:off x="2140857" y="533790"/>
            <a:ext cx="7910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APLICAÇÃO DAS ESTRUTURAS DRIVE-IN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ACE34B-13C1-EC01-595B-7F43EC85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9" y="1804001"/>
            <a:ext cx="10241162" cy="479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30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756A5-0DED-8C0C-A818-0CB3F5C3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B00097A-29E0-4667-EC1D-B678242EF589}"/>
              </a:ext>
            </a:extLst>
          </p:cNvPr>
          <p:cNvSpPr txBox="1"/>
          <p:nvPr/>
        </p:nvSpPr>
        <p:spPr>
          <a:xfrm>
            <a:off x="5243285" y="432193"/>
            <a:ext cx="17054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NORMAS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EDF9D2-E589-E696-CD7E-30B79E94DC78}"/>
              </a:ext>
            </a:extLst>
          </p:cNvPr>
          <p:cNvSpPr txBox="1"/>
          <p:nvPr/>
        </p:nvSpPr>
        <p:spPr>
          <a:xfrm>
            <a:off x="159657" y="1544191"/>
            <a:ext cx="11872686" cy="229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Atualmente a norma nacional de drive-in está em fase de elaboração e seu texto tem como base a norma FEM 10.2.07 </a:t>
            </a:r>
            <a:r>
              <a:rPr lang="pt-BR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September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2.012 - Drive-In Design </a:t>
            </a:r>
            <a:r>
              <a:rPr lang="pt-BR" sz="20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 qual será a norma que irá orientar os projetos atuais da Amapá.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pt-BR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Outra norma que também serve como referência é a norma NBR15524-1 e NBR15524-2 de 2007, porém, vale ressaltar que esta norma está em processo de revisão e seu texto tem como previsão de homologação em meados de 2024.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104DD0-2742-5EFF-9C06-FC79A1519C69}"/>
              </a:ext>
            </a:extLst>
          </p:cNvPr>
          <p:cNvSpPr txBox="1"/>
          <p:nvPr/>
        </p:nvSpPr>
        <p:spPr>
          <a:xfrm>
            <a:off x="159657" y="3910687"/>
            <a:ext cx="6096000" cy="3491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80340" lvl="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NBR15524-1/2007 – Sistema de Armazenagem - Terminologia</a:t>
            </a:r>
            <a:endParaRPr lang="pt-B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80340" lvl="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NBR15524-2/2007</a:t>
            </a: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FEM 10.2.07/2012- Drive-In Design </a:t>
            </a:r>
            <a:r>
              <a:rPr lang="pt-BR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80340" lvl="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NBR 6120/2019 - Ações para o Cálculo de estruturas de Edificações.</a:t>
            </a:r>
            <a:endParaRPr lang="pt-BR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80340" lvl="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pt-B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F99951-C542-3570-A28E-333CCB7124BA}"/>
              </a:ext>
            </a:extLst>
          </p:cNvPr>
          <p:cNvSpPr txBox="1"/>
          <p:nvPr/>
        </p:nvSpPr>
        <p:spPr>
          <a:xfrm>
            <a:off x="6255657" y="3694955"/>
            <a:ext cx="6096000" cy="316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180340" lvl="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NBR 8681/2003 - Ações e Segurança nas estruturas – Procedimentos.</a:t>
            </a:r>
            <a:endParaRPr lang="pt-B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80340" lvl="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NBR 14762/2010 - Dimensionamento de Estruturas de Aço Constituídas por Perfis Formados a Frio – Procedimento</a:t>
            </a:r>
            <a:endParaRPr lang="pt-B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180340" lvl="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NBR 8800/2008 - Projeto e Execução de Estruturas de Aço e de Estrutura Mista de Aço e Concreto de Edifícios.</a:t>
            </a:r>
            <a:endParaRPr lang="pt-BR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17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777D-8D2A-9008-B550-F47855CD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CFA8C1-7615-E645-1BCF-041E75BE882E}"/>
              </a:ext>
            </a:extLst>
          </p:cNvPr>
          <p:cNvSpPr txBox="1"/>
          <p:nvPr/>
        </p:nvSpPr>
        <p:spPr>
          <a:xfrm>
            <a:off x="3048000" y="388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D7DF7A-BBAF-3A3F-E092-427EBEB46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040" y="1111572"/>
            <a:ext cx="6830619" cy="556042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B3E243B-3FF5-5B25-F444-FCA8F0E06A60}"/>
              </a:ext>
            </a:extLst>
          </p:cNvPr>
          <p:cNvSpPr txBox="1"/>
          <p:nvPr/>
        </p:nvSpPr>
        <p:spPr>
          <a:xfrm>
            <a:off x="275772" y="1640177"/>
            <a:ext cx="4746171" cy="3896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Coluna do montante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Diagonais e travessas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Braço duplo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Braço simples</a:t>
            </a:r>
            <a:endParaRPr lang="pt-BR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Longarina de túnel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Protetor caneleira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Trilho guia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Longarina de Topo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Travamento de Topo em “ZIG-ZAG”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Travamento de Fundo em “ZIG-ZAG”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Longarina Requadro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pt-BR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 Palete</a:t>
            </a:r>
            <a:endParaRPr lang="pt-BR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E212AB8-1080-AD30-CEC5-90EBD9D2E568}"/>
              </a:ext>
            </a:extLst>
          </p:cNvPr>
          <p:cNvCxnSpPr/>
          <p:nvPr/>
        </p:nvCxnSpPr>
        <p:spPr>
          <a:xfrm>
            <a:off x="4731657" y="1640177"/>
            <a:ext cx="609600" cy="4353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64ADF15A-8D1D-B054-65AC-791EC1DA20A9}"/>
              </a:ext>
            </a:extLst>
          </p:cNvPr>
          <p:cNvSpPr txBox="1"/>
          <p:nvPr/>
        </p:nvSpPr>
        <p:spPr>
          <a:xfrm>
            <a:off x="4515179" y="1321628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1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C93F9292-3FE0-3602-3620-67E63A0B1B8A}"/>
              </a:ext>
            </a:extLst>
          </p:cNvPr>
          <p:cNvCxnSpPr>
            <a:cxnSpLocks/>
          </p:cNvCxnSpPr>
          <p:nvPr/>
        </p:nvCxnSpPr>
        <p:spPr>
          <a:xfrm flipV="1">
            <a:off x="6096000" y="3864366"/>
            <a:ext cx="0" cy="6931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7D9220-7876-7460-40CD-B005087B0CFB}"/>
              </a:ext>
            </a:extLst>
          </p:cNvPr>
          <p:cNvSpPr txBox="1"/>
          <p:nvPr/>
        </p:nvSpPr>
        <p:spPr>
          <a:xfrm>
            <a:off x="5949165" y="4557486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2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BECF5D6-8D7D-7445-0662-C57747CACA73}"/>
              </a:ext>
            </a:extLst>
          </p:cNvPr>
          <p:cNvCxnSpPr>
            <a:cxnSpLocks/>
          </p:cNvCxnSpPr>
          <p:nvPr/>
        </p:nvCxnSpPr>
        <p:spPr>
          <a:xfrm flipV="1">
            <a:off x="8665029" y="5537200"/>
            <a:ext cx="660399" cy="6458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1C8F52D-21EC-FAB8-B750-8BE046156EEC}"/>
              </a:ext>
            </a:extLst>
          </p:cNvPr>
          <p:cNvSpPr txBox="1"/>
          <p:nvPr/>
        </p:nvSpPr>
        <p:spPr>
          <a:xfrm>
            <a:off x="8301349" y="6044586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3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BCA848E8-1A21-6694-B31F-4D422CFDECBB}"/>
              </a:ext>
            </a:extLst>
          </p:cNvPr>
          <p:cNvCxnSpPr>
            <a:cxnSpLocks/>
          </p:cNvCxnSpPr>
          <p:nvPr/>
        </p:nvCxnSpPr>
        <p:spPr>
          <a:xfrm flipV="1">
            <a:off x="4886040" y="3331266"/>
            <a:ext cx="571331" cy="2392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3EED178-DEF2-2ACB-0A45-C1DB4A43E236}"/>
              </a:ext>
            </a:extLst>
          </p:cNvPr>
          <p:cNvSpPr txBox="1"/>
          <p:nvPr/>
        </p:nvSpPr>
        <p:spPr>
          <a:xfrm>
            <a:off x="4566726" y="3390459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4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83AFED64-6452-6E1A-A0EB-42D10D7BF1DD}"/>
              </a:ext>
            </a:extLst>
          </p:cNvPr>
          <p:cNvCxnSpPr>
            <a:cxnSpLocks/>
          </p:cNvCxnSpPr>
          <p:nvPr/>
        </p:nvCxnSpPr>
        <p:spPr>
          <a:xfrm>
            <a:off x="4851401" y="2430039"/>
            <a:ext cx="843763" cy="3749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04CFD80-3167-E237-A0DF-BB606391165F}"/>
              </a:ext>
            </a:extLst>
          </p:cNvPr>
          <p:cNvSpPr txBox="1"/>
          <p:nvPr/>
        </p:nvSpPr>
        <p:spPr>
          <a:xfrm>
            <a:off x="4592370" y="2078638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5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872E2F93-F53F-E17F-656A-0FFAD01193BF}"/>
              </a:ext>
            </a:extLst>
          </p:cNvPr>
          <p:cNvCxnSpPr>
            <a:cxnSpLocks/>
          </p:cNvCxnSpPr>
          <p:nvPr/>
        </p:nvCxnSpPr>
        <p:spPr>
          <a:xfrm flipV="1">
            <a:off x="5347692" y="3948402"/>
            <a:ext cx="571331" cy="2392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B43748C-C8A0-D17F-8C8B-1560FC0DAC2B}"/>
              </a:ext>
            </a:extLst>
          </p:cNvPr>
          <p:cNvSpPr txBox="1"/>
          <p:nvPr/>
        </p:nvSpPr>
        <p:spPr>
          <a:xfrm>
            <a:off x="5028378" y="4007595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6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26BF0CA5-9AC5-7DC7-D0CD-7DEEB35430EF}"/>
              </a:ext>
            </a:extLst>
          </p:cNvPr>
          <p:cNvCxnSpPr>
            <a:cxnSpLocks/>
          </p:cNvCxnSpPr>
          <p:nvPr/>
        </p:nvCxnSpPr>
        <p:spPr>
          <a:xfrm flipV="1">
            <a:off x="7010400" y="4557486"/>
            <a:ext cx="121412" cy="508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A42F332-3FFF-0CA5-F73C-B180969E7B3C}"/>
              </a:ext>
            </a:extLst>
          </p:cNvPr>
          <p:cNvSpPr txBox="1"/>
          <p:nvPr/>
        </p:nvSpPr>
        <p:spPr>
          <a:xfrm>
            <a:off x="7071106" y="5065486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7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FEFB1E1-A147-E8F0-7523-EBFA6A6ED529}"/>
              </a:ext>
            </a:extLst>
          </p:cNvPr>
          <p:cNvCxnSpPr>
            <a:cxnSpLocks/>
          </p:cNvCxnSpPr>
          <p:nvPr/>
        </p:nvCxnSpPr>
        <p:spPr>
          <a:xfrm flipH="1">
            <a:off x="7553693" y="1111572"/>
            <a:ext cx="603336" cy="434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375E374-F85F-D981-9074-D59BE995713D}"/>
              </a:ext>
            </a:extLst>
          </p:cNvPr>
          <p:cNvSpPr txBox="1"/>
          <p:nvPr/>
        </p:nvSpPr>
        <p:spPr>
          <a:xfrm>
            <a:off x="8191668" y="887022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8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DF5884F9-1EE4-8D1D-747D-2E93795142DE}"/>
              </a:ext>
            </a:extLst>
          </p:cNvPr>
          <p:cNvCxnSpPr>
            <a:cxnSpLocks/>
          </p:cNvCxnSpPr>
          <p:nvPr/>
        </p:nvCxnSpPr>
        <p:spPr>
          <a:xfrm flipH="1">
            <a:off x="9025090" y="2075543"/>
            <a:ext cx="420578" cy="5950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A4B3164-B803-523B-B8DE-17F1A14E7D86}"/>
              </a:ext>
            </a:extLst>
          </p:cNvPr>
          <p:cNvSpPr txBox="1"/>
          <p:nvPr/>
        </p:nvSpPr>
        <p:spPr>
          <a:xfrm>
            <a:off x="9480307" y="1850993"/>
            <a:ext cx="402674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10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2159DD58-F6BD-5CA0-48C2-0ABEFB07B172}"/>
              </a:ext>
            </a:extLst>
          </p:cNvPr>
          <p:cNvCxnSpPr/>
          <p:nvPr/>
        </p:nvCxnSpPr>
        <p:spPr>
          <a:xfrm>
            <a:off x="5741724" y="1365083"/>
            <a:ext cx="609600" cy="4353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2B2AA12-1C49-B488-DA9B-FA5EBEF54EF8}"/>
              </a:ext>
            </a:extLst>
          </p:cNvPr>
          <p:cNvSpPr txBox="1"/>
          <p:nvPr/>
        </p:nvSpPr>
        <p:spPr>
          <a:xfrm>
            <a:off x="5479678" y="1006515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9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E8C2E2C3-6848-342B-E499-A79500DD62C7}"/>
              </a:ext>
            </a:extLst>
          </p:cNvPr>
          <p:cNvCxnSpPr>
            <a:cxnSpLocks/>
          </p:cNvCxnSpPr>
          <p:nvPr/>
        </p:nvCxnSpPr>
        <p:spPr>
          <a:xfrm flipH="1">
            <a:off x="11384570" y="3331266"/>
            <a:ext cx="134622" cy="8343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D9F528C-8E5E-46A0-AA14-BBE99194634C}"/>
              </a:ext>
            </a:extLst>
          </p:cNvPr>
          <p:cNvSpPr txBox="1"/>
          <p:nvPr/>
        </p:nvSpPr>
        <p:spPr>
          <a:xfrm>
            <a:off x="11116518" y="2864289"/>
            <a:ext cx="402674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11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E68AB40-F58B-517B-199F-4A7FF745A807}"/>
              </a:ext>
            </a:extLst>
          </p:cNvPr>
          <p:cNvSpPr txBox="1"/>
          <p:nvPr/>
        </p:nvSpPr>
        <p:spPr>
          <a:xfrm>
            <a:off x="6825912" y="5822575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RUA</a:t>
            </a:r>
          </a:p>
        </p:txBody>
      </p:sp>
      <p:sp>
        <p:nvSpPr>
          <p:cNvPr id="40" name="Seta: para a Direita 39">
            <a:extLst>
              <a:ext uri="{FF2B5EF4-FFF2-40B4-BE49-F238E27FC236}">
                <a16:creationId xmlns:a16="http://schemas.microsoft.com/office/drawing/2014/main" id="{2AEB3201-B7DF-4A7C-869A-ADBB1ABC6B13}"/>
              </a:ext>
            </a:extLst>
          </p:cNvPr>
          <p:cNvSpPr/>
          <p:nvPr/>
        </p:nvSpPr>
        <p:spPr>
          <a:xfrm rot="19936111">
            <a:off x="7380081" y="5376651"/>
            <a:ext cx="80941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EB9C90EB-A57F-D776-685C-067A44CFB235}"/>
              </a:ext>
            </a:extLst>
          </p:cNvPr>
          <p:cNvCxnSpPr>
            <a:cxnSpLocks/>
          </p:cNvCxnSpPr>
          <p:nvPr/>
        </p:nvCxnSpPr>
        <p:spPr>
          <a:xfrm flipH="1">
            <a:off x="9808079" y="2631714"/>
            <a:ext cx="420578" cy="5950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A3F515F-0A17-9815-0959-F2BC8DB7C32B}"/>
              </a:ext>
            </a:extLst>
          </p:cNvPr>
          <p:cNvSpPr txBox="1"/>
          <p:nvPr/>
        </p:nvSpPr>
        <p:spPr>
          <a:xfrm>
            <a:off x="10263296" y="2407164"/>
            <a:ext cx="402674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38874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C7E5C-F394-0658-94F4-6072449D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D5138DD-B51E-0595-FECA-21CEB071C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71" y="1752366"/>
            <a:ext cx="10621857" cy="335326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2A70128-6C63-3699-A574-92CC12C45F10}"/>
              </a:ext>
            </a:extLst>
          </p:cNvPr>
          <p:cNvSpPr txBox="1"/>
          <p:nvPr/>
        </p:nvSpPr>
        <p:spPr>
          <a:xfrm>
            <a:off x="3048000" y="388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523C4A5-E8FD-1D8C-6EF3-252CD0DB0077}"/>
              </a:ext>
            </a:extLst>
          </p:cNvPr>
          <p:cNvSpPr txBox="1"/>
          <p:nvPr/>
        </p:nvSpPr>
        <p:spPr>
          <a:xfrm>
            <a:off x="5008553" y="1383034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VISTA SUPERIOR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FB5DFED-C05D-D6D6-6288-F779E0C1A9A3}"/>
              </a:ext>
            </a:extLst>
          </p:cNvPr>
          <p:cNvCxnSpPr>
            <a:cxnSpLocks/>
          </p:cNvCxnSpPr>
          <p:nvPr/>
        </p:nvCxnSpPr>
        <p:spPr>
          <a:xfrm flipV="1">
            <a:off x="4354286" y="4470400"/>
            <a:ext cx="333828" cy="8418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9AE72E-D2C4-831D-EA90-71855EC58AF7}"/>
              </a:ext>
            </a:extLst>
          </p:cNvPr>
          <p:cNvSpPr txBox="1"/>
          <p:nvPr/>
        </p:nvSpPr>
        <p:spPr>
          <a:xfrm>
            <a:off x="3949121" y="5173729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9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CC382E5-9E42-EF7B-23EB-0BE52F317CA4}"/>
              </a:ext>
            </a:extLst>
          </p:cNvPr>
          <p:cNvCxnSpPr>
            <a:cxnSpLocks/>
          </p:cNvCxnSpPr>
          <p:nvPr/>
        </p:nvCxnSpPr>
        <p:spPr>
          <a:xfrm flipH="1" flipV="1">
            <a:off x="5740400" y="4788017"/>
            <a:ext cx="482588" cy="6627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2BA5F8C-1904-9428-57DA-19B22F23408B}"/>
              </a:ext>
            </a:extLst>
          </p:cNvPr>
          <p:cNvSpPr txBox="1"/>
          <p:nvPr/>
        </p:nvSpPr>
        <p:spPr>
          <a:xfrm>
            <a:off x="6384361" y="5312228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8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299957-B74E-CC62-07ED-E3950CAF9030}"/>
              </a:ext>
            </a:extLst>
          </p:cNvPr>
          <p:cNvSpPr txBox="1"/>
          <p:nvPr/>
        </p:nvSpPr>
        <p:spPr>
          <a:xfrm>
            <a:off x="6722163" y="5312227"/>
            <a:ext cx="1604414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Longarina de Topo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7989DD8-F3A8-179E-6CFD-8B49C4D47FEB}"/>
              </a:ext>
            </a:extLst>
          </p:cNvPr>
          <p:cNvSpPr txBox="1"/>
          <p:nvPr/>
        </p:nvSpPr>
        <p:spPr>
          <a:xfrm>
            <a:off x="2678400" y="5518823"/>
            <a:ext cx="2490746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Travamento de Topo ZIG-ZAG</a:t>
            </a:r>
          </a:p>
        </p:txBody>
      </p:sp>
    </p:spTree>
    <p:extLst>
      <p:ext uri="{BB962C8B-B14F-4D97-AF65-F5344CB8AC3E}">
        <p14:creationId xmlns:p14="http://schemas.microsoft.com/office/powerpoint/2010/main" val="3173669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99FE1-E3E7-92B0-B901-E5A7BA26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A59352-63E2-3ED6-A686-EB9B550F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023" y="1238576"/>
            <a:ext cx="4505954" cy="507753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BC510A2-6354-9D7D-2D01-D3CAC78DE04F}"/>
              </a:ext>
            </a:extLst>
          </p:cNvPr>
          <p:cNvSpPr txBox="1"/>
          <p:nvPr/>
        </p:nvSpPr>
        <p:spPr>
          <a:xfrm>
            <a:off x="3048000" y="388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09229E50-9BA8-BB71-ED75-1BCC75E35286}"/>
              </a:ext>
            </a:extLst>
          </p:cNvPr>
          <p:cNvCxnSpPr>
            <a:cxnSpLocks/>
          </p:cNvCxnSpPr>
          <p:nvPr/>
        </p:nvCxnSpPr>
        <p:spPr>
          <a:xfrm flipH="1">
            <a:off x="8096681" y="1583287"/>
            <a:ext cx="531510" cy="1578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1FA457-B6D6-C1BE-5F87-C92C6A9FFBDC}"/>
              </a:ext>
            </a:extLst>
          </p:cNvPr>
          <p:cNvSpPr txBox="1"/>
          <p:nvPr/>
        </p:nvSpPr>
        <p:spPr>
          <a:xfrm>
            <a:off x="8703495" y="1353459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1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C2D9FC1-0AA9-5545-8EE9-5C3429254F36}"/>
              </a:ext>
            </a:extLst>
          </p:cNvPr>
          <p:cNvCxnSpPr>
            <a:cxnSpLocks/>
          </p:cNvCxnSpPr>
          <p:nvPr/>
        </p:nvCxnSpPr>
        <p:spPr>
          <a:xfrm flipH="1">
            <a:off x="7725594" y="3243943"/>
            <a:ext cx="88171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1AF1C4EA-5B67-3C5B-A984-5C9BACD1C79A}"/>
              </a:ext>
            </a:extLst>
          </p:cNvPr>
          <p:cNvCxnSpPr>
            <a:cxnSpLocks/>
          </p:cNvCxnSpPr>
          <p:nvPr/>
        </p:nvCxnSpPr>
        <p:spPr>
          <a:xfrm flipH="1" flipV="1">
            <a:off x="7605486" y="2859314"/>
            <a:ext cx="1001821" cy="3846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3A7AE66-9D09-97F8-1D99-BE506031691F}"/>
              </a:ext>
            </a:extLst>
          </p:cNvPr>
          <p:cNvSpPr txBox="1"/>
          <p:nvPr/>
        </p:nvSpPr>
        <p:spPr>
          <a:xfrm>
            <a:off x="8723924" y="2966944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2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07EA2551-4BC0-506C-8C0A-5B8B2D0496F7}"/>
              </a:ext>
            </a:extLst>
          </p:cNvPr>
          <p:cNvCxnSpPr>
            <a:cxnSpLocks/>
          </p:cNvCxnSpPr>
          <p:nvPr/>
        </p:nvCxnSpPr>
        <p:spPr>
          <a:xfrm flipH="1">
            <a:off x="6651537" y="4278085"/>
            <a:ext cx="1454859" cy="5334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F8EA796-ED22-6290-91DB-5B02258D1F77}"/>
              </a:ext>
            </a:extLst>
          </p:cNvPr>
          <p:cNvSpPr txBox="1"/>
          <p:nvPr/>
        </p:nvSpPr>
        <p:spPr>
          <a:xfrm>
            <a:off x="8244194" y="4001086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5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F9233378-59DC-1B74-0A2E-145395431536}"/>
              </a:ext>
            </a:extLst>
          </p:cNvPr>
          <p:cNvCxnSpPr>
            <a:cxnSpLocks/>
          </p:cNvCxnSpPr>
          <p:nvPr/>
        </p:nvCxnSpPr>
        <p:spPr>
          <a:xfrm flipV="1">
            <a:off x="6297161" y="6167922"/>
            <a:ext cx="121412" cy="508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73ADA93-1A4E-38D1-BD5E-F3D525EED018}"/>
              </a:ext>
            </a:extLst>
          </p:cNvPr>
          <p:cNvSpPr txBox="1"/>
          <p:nvPr/>
        </p:nvSpPr>
        <p:spPr>
          <a:xfrm>
            <a:off x="5897142" y="6435787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7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F50653B1-7F5C-3E3C-E7C6-301AB36191FC}"/>
              </a:ext>
            </a:extLst>
          </p:cNvPr>
          <p:cNvCxnSpPr>
            <a:cxnSpLocks/>
          </p:cNvCxnSpPr>
          <p:nvPr/>
        </p:nvCxnSpPr>
        <p:spPr>
          <a:xfrm flipH="1">
            <a:off x="8096681" y="5312229"/>
            <a:ext cx="657461" cy="3470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526A046-885E-7044-5B26-25B197C5BDFF}"/>
              </a:ext>
            </a:extLst>
          </p:cNvPr>
          <p:cNvSpPr txBox="1"/>
          <p:nvPr/>
        </p:nvSpPr>
        <p:spPr>
          <a:xfrm>
            <a:off x="8850330" y="5012229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6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C24D354-E3C0-0FB1-4544-98F52E94E49B}"/>
              </a:ext>
            </a:extLst>
          </p:cNvPr>
          <p:cNvSpPr/>
          <p:nvPr/>
        </p:nvSpPr>
        <p:spPr>
          <a:xfrm>
            <a:off x="3843023" y="1198658"/>
            <a:ext cx="756698" cy="523712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8192C72-751E-BDF6-7D85-68451A9CDC5C}"/>
              </a:ext>
            </a:extLst>
          </p:cNvPr>
          <p:cNvCxnSpPr>
            <a:cxnSpLocks/>
          </p:cNvCxnSpPr>
          <p:nvPr/>
        </p:nvCxnSpPr>
        <p:spPr>
          <a:xfrm>
            <a:off x="2811944" y="2859314"/>
            <a:ext cx="914462" cy="3846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8BB5E33-5BDC-854A-B221-7E8668DFDF74}"/>
              </a:ext>
            </a:extLst>
          </p:cNvPr>
          <p:cNvSpPr txBox="1"/>
          <p:nvPr/>
        </p:nvSpPr>
        <p:spPr>
          <a:xfrm>
            <a:off x="93767" y="1870448"/>
            <a:ext cx="3473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Coluna Solteira / Pontalete</a:t>
            </a:r>
          </a:p>
          <a:p>
            <a:pPr algn="just"/>
            <a:r>
              <a:rPr lang="pt-BR" b="1" dirty="0"/>
              <a:t>(requadro será colocado apenas em estruturas de 2 espaçamentos)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C412B5B-EBC9-A8B9-25CB-9A4F3A6D968C}"/>
              </a:ext>
            </a:extLst>
          </p:cNvPr>
          <p:cNvSpPr txBox="1"/>
          <p:nvPr/>
        </p:nvSpPr>
        <p:spPr>
          <a:xfrm>
            <a:off x="93767" y="3243943"/>
            <a:ext cx="31283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</a:t>
            </a:r>
            <a:r>
              <a:rPr lang="pt-BR" b="1" dirty="0"/>
              <a:t>requadro</a:t>
            </a:r>
            <a:r>
              <a:rPr lang="pt-BR" dirty="0"/>
              <a:t> é composto por par de longarinas nas duas últimas colunas da estrutura ao longo de todos os túneis e no mesmo nível da longarina de túnel.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B5DF192-3EAE-EF62-CDD6-9F95F0D9AF9B}"/>
              </a:ext>
            </a:extLst>
          </p:cNvPr>
          <p:cNvSpPr txBox="1"/>
          <p:nvPr/>
        </p:nvSpPr>
        <p:spPr>
          <a:xfrm>
            <a:off x="5028224" y="1013992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VISTA LATERAL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90439CC-8785-0D60-D4B3-8F1D3399642D}"/>
              </a:ext>
            </a:extLst>
          </p:cNvPr>
          <p:cNvSpPr txBox="1"/>
          <p:nvPr/>
        </p:nvSpPr>
        <p:spPr>
          <a:xfrm>
            <a:off x="8885249" y="1103059"/>
            <a:ext cx="715260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Coluna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D9A862A-0BB5-A680-E747-9DA54F63D2A6}"/>
              </a:ext>
            </a:extLst>
          </p:cNvPr>
          <p:cNvSpPr txBox="1"/>
          <p:nvPr/>
        </p:nvSpPr>
        <p:spPr>
          <a:xfrm>
            <a:off x="9068110" y="2655278"/>
            <a:ext cx="1708096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Diagonal / Travessa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C91C31F-6177-C7EF-08D8-099E370DABDE}"/>
              </a:ext>
            </a:extLst>
          </p:cNvPr>
          <p:cNvSpPr txBox="1"/>
          <p:nvPr/>
        </p:nvSpPr>
        <p:spPr>
          <a:xfrm>
            <a:off x="9144000" y="4705587"/>
            <a:ext cx="1582997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Protetor Caneleira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A40127D-BB4E-C1EB-0F39-8ABBD976292F}"/>
              </a:ext>
            </a:extLst>
          </p:cNvPr>
          <p:cNvSpPr txBox="1"/>
          <p:nvPr/>
        </p:nvSpPr>
        <p:spPr>
          <a:xfrm>
            <a:off x="4875299" y="6427372"/>
            <a:ext cx="1009635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Trilho Guia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E3D3A05-B897-0298-B8AD-1D32873931F8}"/>
              </a:ext>
            </a:extLst>
          </p:cNvPr>
          <p:cNvSpPr txBox="1"/>
          <p:nvPr/>
        </p:nvSpPr>
        <p:spPr>
          <a:xfrm>
            <a:off x="8254714" y="3698743"/>
            <a:ext cx="1667444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Longarina de Túnel</a:t>
            </a:r>
          </a:p>
        </p:txBody>
      </p:sp>
    </p:spTree>
    <p:extLst>
      <p:ext uri="{BB962C8B-B14F-4D97-AF65-F5344CB8AC3E}">
        <p14:creationId xmlns:p14="http://schemas.microsoft.com/office/powerpoint/2010/main" val="360487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05F14-D7D4-6CCE-1B6E-7ABFC77C0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F9767E5-145C-ECCB-B282-E43736A4D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3" y="1681181"/>
            <a:ext cx="11566453" cy="424064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0E6ECFC-A5F8-3E6E-B1AF-76330C8FE6D7}"/>
              </a:ext>
            </a:extLst>
          </p:cNvPr>
          <p:cNvSpPr txBox="1"/>
          <p:nvPr/>
        </p:nvSpPr>
        <p:spPr>
          <a:xfrm>
            <a:off x="3048000" y="388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25B32D-9112-06A5-4F90-F85AEC22A0F8}"/>
              </a:ext>
            </a:extLst>
          </p:cNvPr>
          <p:cNvSpPr txBox="1"/>
          <p:nvPr/>
        </p:nvSpPr>
        <p:spPr>
          <a:xfrm>
            <a:off x="4959309" y="1311849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VISTA FRONTAL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CC23F8D-4B5E-39FC-0B2E-892F4BEF7A60}"/>
              </a:ext>
            </a:extLst>
          </p:cNvPr>
          <p:cNvCxnSpPr>
            <a:cxnSpLocks/>
          </p:cNvCxnSpPr>
          <p:nvPr/>
        </p:nvCxnSpPr>
        <p:spPr>
          <a:xfrm>
            <a:off x="2104571" y="1484676"/>
            <a:ext cx="285968" cy="3700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4D6AF0E-6DF0-627A-1A0A-8DF795D46F5F}"/>
              </a:ext>
            </a:extLst>
          </p:cNvPr>
          <p:cNvSpPr txBox="1"/>
          <p:nvPr/>
        </p:nvSpPr>
        <p:spPr>
          <a:xfrm>
            <a:off x="1957736" y="1023011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8</a:t>
            </a:r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7527BFFC-87ED-9DB8-A624-D79D0DCCB4DC}"/>
              </a:ext>
            </a:extLst>
          </p:cNvPr>
          <p:cNvCxnSpPr>
            <a:cxnSpLocks/>
          </p:cNvCxnSpPr>
          <p:nvPr/>
        </p:nvCxnSpPr>
        <p:spPr>
          <a:xfrm flipH="1" flipV="1">
            <a:off x="1251167" y="5457160"/>
            <a:ext cx="403462" cy="6611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529DEA1-7D9C-F0C5-F71A-96825EB30674}"/>
              </a:ext>
            </a:extLst>
          </p:cNvPr>
          <p:cNvSpPr txBox="1"/>
          <p:nvPr/>
        </p:nvSpPr>
        <p:spPr>
          <a:xfrm>
            <a:off x="1050224" y="5979834"/>
            <a:ext cx="402674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11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654F554-326D-F8E1-2196-B79B3FEAFC1A}"/>
              </a:ext>
            </a:extLst>
          </p:cNvPr>
          <p:cNvCxnSpPr>
            <a:cxnSpLocks/>
          </p:cNvCxnSpPr>
          <p:nvPr/>
        </p:nvCxnSpPr>
        <p:spPr>
          <a:xfrm flipV="1">
            <a:off x="3048000" y="5126573"/>
            <a:ext cx="344024" cy="8532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745EA9FB-24E6-77E7-B1FA-423558CBEA7A}"/>
              </a:ext>
            </a:extLst>
          </p:cNvPr>
          <p:cNvCxnSpPr>
            <a:cxnSpLocks/>
          </p:cNvCxnSpPr>
          <p:nvPr/>
        </p:nvCxnSpPr>
        <p:spPr>
          <a:xfrm flipH="1" flipV="1">
            <a:off x="2419567" y="4150056"/>
            <a:ext cx="628433" cy="18297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B716CAD-D788-6601-DE16-37ABAA65364F}"/>
              </a:ext>
            </a:extLst>
          </p:cNvPr>
          <p:cNvSpPr txBox="1"/>
          <p:nvPr/>
        </p:nvSpPr>
        <p:spPr>
          <a:xfrm>
            <a:off x="2846663" y="6032371"/>
            <a:ext cx="402674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10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6FCD4BCA-294A-3D46-7B6E-4F99A3F87457}"/>
              </a:ext>
            </a:extLst>
          </p:cNvPr>
          <p:cNvCxnSpPr>
            <a:cxnSpLocks/>
          </p:cNvCxnSpPr>
          <p:nvPr/>
        </p:nvCxnSpPr>
        <p:spPr>
          <a:xfrm flipH="1" flipV="1">
            <a:off x="6135222" y="4638314"/>
            <a:ext cx="628435" cy="12835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EC6940A4-4BEF-23ED-EA11-1FF7632CD915}"/>
              </a:ext>
            </a:extLst>
          </p:cNvPr>
          <p:cNvCxnSpPr>
            <a:cxnSpLocks/>
          </p:cNvCxnSpPr>
          <p:nvPr/>
        </p:nvCxnSpPr>
        <p:spPr>
          <a:xfrm flipV="1">
            <a:off x="10940833" y="4681975"/>
            <a:ext cx="586448" cy="12398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C9B0D52-6933-1841-1941-5FCE5A574ABC}"/>
              </a:ext>
            </a:extLst>
          </p:cNvPr>
          <p:cNvSpPr txBox="1"/>
          <p:nvPr/>
        </p:nvSpPr>
        <p:spPr>
          <a:xfrm>
            <a:off x="6784608" y="5961298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EF6B2A0-5121-A5FA-F202-B93B010DB75B}"/>
              </a:ext>
            </a:extLst>
          </p:cNvPr>
          <p:cNvSpPr txBox="1"/>
          <p:nvPr/>
        </p:nvSpPr>
        <p:spPr>
          <a:xfrm>
            <a:off x="11032720" y="5921829"/>
            <a:ext cx="293670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4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8C0FAA51-8459-3288-3A56-2AE43EB439E9}"/>
              </a:ext>
            </a:extLst>
          </p:cNvPr>
          <p:cNvCxnSpPr>
            <a:cxnSpLocks/>
          </p:cNvCxnSpPr>
          <p:nvPr/>
        </p:nvCxnSpPr>
        <p:spPr>
          <a:xfrm>
            <a:off x="7866743" y="1627198"/>
            <a:ext cx="278710" cy="9604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D0CD636-F1E8-36D0-B683-C0F078254CBA}"/>
              </a:ext>
            </a:extLst>
          </p:cNvPr>
          <p:cNvSpPr txBox="1"/>
          <p:nvPr/>
        </p:nvSpPr>
        <p:spPr>
          <a:xfrm>
            <a:off x="7821041" y="1245948"/>
            <a:ext cx="402674" cy="276999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pt-BR" sz="1200" b="1" dirty="0"/>
              <a:t>12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C03B8D52-840D-EA2D-D9A3-B8E60D788322}"/>
              </a:ext>
            </a:extLst>
          </p:cNvPr>
          <p:cNvCxnSpPr>
            <a:cxnSpLocks/>
          </p:cNvCxnSpPr>
          <p:nvPr/>
        </p:nvCxnSpPr>
        <p:spPr>
          <a:xfrm flipH="1">
            <a:off x="7410360" y="1623176"/>
            <a:ext cx="456383" cy="9644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99CA799-7459-7D98-627E-6CD379F521A7}"/>
              </a:ext>
            </a:extLst>
          </p:cNvPr>
          <p:cNvSpPr txBox="1"/>
          <p:nvPr/>
        </p:nvSpPr>
        <p:spPr>
          <a:xfrm>
            <a:off x="8155933" y="1015612"/>
            <a:ext cx="1062535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Stop Palete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27CDB2D-0EBC-2977-A622-A758E40C3BE5}"/>
              </a:ext>
            </a:extLst>
          </p:cNvPr>
          <p:cNvSpPr txBox="1"/>
          <p:nvPr/>
        </p:nvSpPr>
        <p:spPr>
          <a:xfrm>
            <a:off x="2126742" y="746012"/>
            <a:ext cx="1604414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Longarina de Topo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C8A6EE8-1676-D672-2A89-DBE7CAFCD281}"/>
              </a:ext>
            </a:extLst>
          </p:cNvPr>
          <p:cNvSpPr txBox="1"/>
          <p:nvPr/>
        </p:nvSpPr>
        <p:spPr>
          <a:xfrm>
            <a:off x="188632" y="6256833"/>
            <a:ext cx="1739002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Longarina Requadro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834E870-B6A1-9F0F-3A09-22754A461F2F}"/>
              </a:ext>
            </a:extLst>
          </p:cNvPr>
          <p:cNvSpPr txBox="1"/>
          <p:nvPr/>
        </p:nvSpPr>
        <p:spPr>
          <a:xfrm>
            <a:off x="3220012" y="6269731"/>
            <a:ext cx="2603470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Travamento de Fundo ZIG-ZAG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F1D082A-AD82-5348-14F4-D4FB7EDCFE73}"/>
              </a:ext>
            </a:extLst>
          </p:cNvPr>
          <p:cNvSpPr txBox="1"/>
          <p:nvPr/>
        </p:nvSpPr>
        <p:spPr>
          <a:xfrm>
            <a:off x="7078278" y="6170870"/>
            <a:ext cx="1121333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Braço Duplo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A8033AF-E71A-8F54-0A4F-8259F215A5B3}"/>
              </a:ext>
            </a:extLst>
          </p:cNvPr>
          <p:cNvSpPr txBox="1"/>
          <p:nvPr/>
        </p:nvSpPr>
        <p:spPr>
          <a:xfrm>
            <a:off x="9970185" y="6214296"/>
            <a:ext cx="1280030" cy="276999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pt-BR" sz="1200" dirty="0"/>
              <a:t>Braço Simples</a:t>
            </a:r>
          </a:p>
        </p:txBody>
      </p:sp>
    </p:spTree>
    <p:extLst>
      <p:ext uri="{BB962C8B-B14F-4D97-AF65-F5344CB8AC3E}">
        <p14:creationId xmlns:p14="http://schemas.microsoft.com/office/powerpoint/2010/main" val="373255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3354-E447-DB7B-7DD3-703CB078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65C6739-ADD4-A020-8891-3F58AF07F0C4}"/>
              </a:ext>
            </a:extLst>
          </p:cNvPr>
          <p:cNvSpPr txBox="1"/>
          <p:nvPr/>
        </p:nvSpPr>
        <p:spPr>
          <a:xfrm>
            <a:off x="3048000" y="388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EABC78-2A42-A53F-154C-FEFDF554890D}"/>
              </a:ext>
            </a:extLst>
          </p:cNvPr>
          <p:cNvSpPr txBox="1"/>
          <p:nvPr/>
        </p:nvSpPr>
        <p:spPr>
          <a:xfrm>
            <a:off x="377371" y="1640114"/>
            <a:ext cx="4892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SOLUÇÕES AINDA NÃO DISPONÍVEL</a:t>
            </a:r>
          </a:p>
        </p:txBody>
      </p:sp>
      <p:pic>
        <p:nvPicPr>
          <p:cNvPr id="5" name="Imagem 4" descr="Uma imagem contendo edifício, laranja, lego, brinquedo&#10;&#10;Descrição gerada automaticamente">
            <a:extLst>
              <a:ext uri="{FF2B5EF4-FFF2-40B4-BE49-F238E27FC236}">
                <a16:creationId xmlns:a16="http://schemas.microsoft.com/office/drawing/2014/main" id="{494AF68A-BB96-E8DE-CADE-D80F7CB154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490" t="-406" r="1490" b="3223"/>
          <a:stretch/>
        </p:blipFill>
        <p:spPr bwMode="auto">
          <a:xfrm>
            <a:off x="1393373" y="2434091"/>
            <a:ext cx="5810204" cy="37697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DC257D33-9F6C-36A8-A2AF-CC12CAC56F26}"/>
              </a:ext>
            </a:extLst>
          </p:cNvPr>
          <p:cNvCxnSpPr>
            <a:cxnSpLocks/>
          </p:cNvCxnSpPr>
          <p:nvPr/>
        </p:nvCxnSpPr>
        <p:spPr>
          <a:xfrm flipH="1">
            <a:off x="6889359" y="3429000"/>
            <a:ext cx="1253155" cy="12963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46293B-74CA-A934-BB36-15C4FA88B8C4}"/>
              </a:ext>
            </a:extLst>
          </p:cNvPr>
          <p:cNvSpPr txBox="1"/>
          <p:nvPr/>
        </p:nvSpPr>
        <p:spPr>
          <a:xfrm>
            <a:off x="8302171" y="3120571"/>
            <a:ext cx="2214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Protetor de Braço</a:t>
            </a:r>
          </a:p>
        </p:txBody>
      </p:sp>
    </p:spTree>
    <p:extLst>
      <p:ext uri="{BB962C8B-B14F-4D97-AF65-F5344CB8AC3E}">
        <p14:creationId xmlns:p14="http://schemas.microsoft.com/office/powerpoint/2010/main" val="2673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A5A8A-DC7B-BE29-E2BE-2EFFA487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76AFA8E-D07A-2789-568D-B02D92FC0446}"/>
              </a:ext>
            </a:extLst>
          </p:cNvPr>
          <p:cNvSpPr txBox="1"/>
          <p:nvPr/>
        </p:nvSpPr>
        <p:spPr>
          <a:xfrm>
            <a:off x="3048000" y="388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pic>
        <p:nvPicPr>
          <p:cNvPr id="3" name="Imagem 2" descr="Tela de computador com texto preto sobre fundo branco&#10;&#10;Descrição gerada automaticamente com confiança média">
            <a:extLst>
              <a:ext uri="{FF2B5EF4-FFF2-40B4-BE49-F238E27FC236}">
                <a16:creationId xmlns:a16="http://schemas.microsoft.com/office/drawing/2014/main" id="{F25D8D46-F968-F272-036F-4F4F1A3DC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10" y="1286373"/>
            <a:ext cx="4982210" cy="503999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1536D96-5A51-1F33-BF21-C72693DABB1D}"/>
              </a:ext>
            </a:extLst>
          </p:cNvPr>
          <p:cNvSpPr txBox="1"/>
          <p:nvPr/>
        </p:nvSpPr>
        <p:spPr>
          <a:xfrm>
            <a:off x="6792686" y="2782669"/>
            <a:ext cx="48187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 3d com vista do fundo de bloco de Drive-in com piso + 6 alturas de pallets / 4 profundidades e 13 ruas.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1340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C2E0-9124-A9BE-CB64-7191D300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E980AE4-E5F3-C6C9-0D79-A89718EF87EC}"/>
              </a:ext>
            </a:extLst>
          </p:cNvPr>
          <p:cNvSpPr txBox="1"/>
          <p:nvPr/>
        </p:nvSpPr>
        <p:spPr>
          <a:xfrm>
            <a:off x="3048000" y="388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pic>
        <p:nvPicPr>
          <p:cNvPr id="3" name="Imagem 2" descr="Forma, Seta&#10;&#10;Descrição gerada automaticamente">
            <a:extLst>
              <a:ext uri="{FF2B5EF4-FFF2-40B4-BE49-F238E27FC236}">
                <a16:creationId xmlns:a16="http://schemas.microsoft.com/office/drawing/2014/main" id="{DD5BF939-60C2-0F9A-57D2-3BDD8566B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32" y="1713729"/>
            <a:ext cx="6557782" cy="41941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285BDD0-E70A-8BCC-ED2F-83A44518832E}"/>
              </a:ext>
            </a:extLst>
          </p:cNvPr>
          <p:cNvSpPr txBox="1"/>
          <p:nvPr/>
        </p:nvSpPr>
        <p:spPr>
          <a:xfrm>
            <a:off x="7399610" y="2644170"/>
            <a:ext cx="422365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Modelo 3d modificado de bloco de Drive-in com piso + 6 alturas de pallets / 4 profundidades e 13 ruas.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8122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724A8-0E63-6804-EB6E-CD527F63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56A1009-DBD7-6362-D8E7-914FACFC3947}"/>
              </a:ext>
            </a:extLst>
          </p:cNvPr>
          <p:cNvSpPr txBox="1"/>
          <p:nvPr/>
        </p:nvSpPr>
        <p:spPr>
          <a:xfrm>
            <a:off x="3048000" y="38865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C1EAA3-040C-8C94-D359-C434C1EA0EB8}"/>
              </a:ext>
            </a:extLst>
          </p:cNvPr>
          <p:cNvSpPr txBox="1"/>
          <p:nvPr/>
        </p:nvSpPr>
        <p:spPr>
          <a:xfrm>
            <a:off x="362858" y="1592612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b="1" i="0" u="none" strike="noStrike" baseline="0" dirty="0">
                <a:solidFill>
                  <a:srgbClr val="F28800"/>
                </a:solidFill>
                <a:latin typeface="OpenSans-Bold"/>
              </a:rPr>
              <a:t>Colocação correta da carga na longarina</a:t>
            </a:r>
          </a:p>
          <a:p>
            <a:pPr algn="just"/>
            <a:endParaRPr lang="pt-BR" sz="1800" b="0" i="0" u="none" strike="noStrike" baseline="0" dirty="0">
              <a:solidFill>
                <a:srgbClr val="70706F"/>
              </a:solidFill>
              <a:latin typeface="OpenSans-Light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70706F"/>
                </a:solidFill>
                <a:latin typeface="OpenSans-Light"/>
              </a:rPr>
              <a:t>Na sequência de colocação e retirada do palete na estrutura, deve-se movimentar este sobre as longarinas, evitando que o palete arraste sobre a longarina quando estiver corretamente posicionado, apoiá-lo de maneira suave, evitando impactos desnecessários.</a:t>
            </a:r>
          </a:p>
          <a:p>
            <a:pPr algn="just"/>
            <a:endParaRPr lang="pt-BR" sz="1800" b="0" i="0" u="none" strike="noStrike" baseline="0" dirty="0">
              <a:solidFill>
                <a:srgbClr val="70706F"/>
              </a:solidFill>
              <a:latin typeface="OpenSans-Light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70706F"/>
                </a:solidFill>
                <a:latin typeface="OpenSans-Light"/>
              </a:rPr>
              <a:t>No ciclo de entrada, o primeiro palete é colocado na posição 1. A estrutura é carregada a partir do sentido de baixo para cima e de trás para frente.</a:t>
            </a:r>
          </a:p>
          <a:p>
            <a:pPr algn="just"/>
            <a:endParaRPr lang="pt-BR" sz="1800" b="0" i="0" u="none" strike="noStrike" baseline="0" dirty="0">
              <a:solidFill>
                <a:srgbClr val="70706F"/>
              </a:solidFill>
              <a:latin typeface="OpenSans-Light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70706F"/>
                </a:solidFill>
                <a:latin typeface="OpenSans-Light"/>
              </a:rPr>
              <a:t>No ciclo de retirada, o processo é inverso. A estrutura é descarregada a partir do sentido de cima para baixo.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6E0849A-5C11-EF52-0AF1-9E8705D0A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83" y="1347652"/>
            <a:ext cx="2936146" cy="512169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EAB5AC6-7729-554E-707F-2352819605CF}"/>
              </a:ext>
            </a:extLst>
          </p:cNvPr>
          <p:cNvSpPr txBox="1"/>
          <p:nvPr/>
        </p:nvSpPr>
        <p:spPr>
          <a:xfrm>
            <a:off x="10087429" y="2598057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ENTRADA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CB39387-792E-F48D-9893-69355093929F}"/>
              </a:ext>
            </a:extLst>
          </p:cNvPr>
          <p:cNvSpPr txBox="1"/>
          <p:nvPr/>
        </p:nvSpPr>
        <p:spPr>
          <a:xfrm>
            <a:off x="10066357" y="5193598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SAÍDA</a:t>
            </a:r>
          </a:p>
        </p:txBody>
      </p:sp>
    </p:spTree>
    <p:extLst>
      <p:ext uri="{BB962C8B-B14F-4D97-AF65-F5344CB8AC3E}">
        <p14:creationId xmlns:p14="http://schemas.microsoft.com/office/powerpoint/2010/main" val="1901197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4C1FB-034F-F3DF-7A7A-613F350D6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6F92E49-D90D-4C32-FF75-8DEA02FA8A4B}"/>
              </a:ext>
            </a:extLst>
          </p:cNvPr>
          <p:cNvSpPr txBox="1"/>
          <p:nvPr/>
        </p:nvSpPr>
        <p:spPr>
          <a:xfrm>
            <a:off x="3048000" y="17093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SISTEMA DRIVE-IN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3637F5-A1F5-4198-BA53-30928268D532}"/>
              </a:ext>
            </a:extLst>
          </p:cNvPr>
          <p:cNvSpPr txBox="1"/>
          <p:nvPr/>
        </p:nvSpPr>
        <p:spPr>
          <a:xfrm>
            <a:off x="159656" y="593583"/>
            <a:ext cx="116694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F28800"/>
                </a:solidFill>
                <a:latin typeface="OpenSans-Bold"/>
              </a:rPr>
              <a:t>Sequência de carregamento e descarregamento do Drive </a:t>
            </a:r>
            <a:r>
              <a:rPr lang="pt-BR" sz="1800" b="1" i="0" u="none" strike="noStrike" baseline="0" dirty="0" err="1">
                <a:solidFill>
                  <a:srgbClr val="F28800"/>
                </a:solidFill>
                <a:latin typeface="OpenSans-Bold"/>
              </a:rPr>
              <a:t>ln</a:t>
            </a:r>
            <a:r>
              <a:rPr lang="pt-BR" sz="1800" b="1" i="0" u="none" strike="noStrike" baseline="0" dirty="0">
                <a:solidFill>
                  <a:srgbClr val="F28800"/>
                </a:solidFill>
                <a:latin typeface="OpenSans-Bold"/>
              </a:rPr>
              <a:t> </a:t>
            </a:r>
            <a:r>
              <a:rPr lang="pt-BR" sz="1800" b="1" i="0" u="none" strike="noStrike" baseline="0" dirty="0" err="1">
                <a:solidFill>
                  <a:srgbClr val="F28800"/>
                </a:solidFill>
                <a:latin typeface="OpenSans-Bold"/>
              </a:rPr>
              <a:t>bi-frontal</a:t>
            </a:r>
            <a:endParaRPr lang="pt-BR" sz="1800" b="1" i="0" u="none" strike="noStrike" baseline="0" dirty="0">
              <a:solidFill>
                <a:srgbClr val="F28800"/>
              </a:solidFill>
              <a:latin typeface="OpenSans-Bold"/>
            </a:endParaRPr>
          </a:p>
          <a:p>
            <a:pPr algn="ctr"/>
            <a:endParaRPr lang="pt-BR" sz="1800" b="0" i="0" u="none" strike="noStrike" baseline="0" dirty="0">
              <a:solidFill>
                <a:srgbClr val="70706F"/>
              </a:solidFill>
              <a:latin typeface="OpenSans-Light"/>
            </a:endParaRPr>
          </a:p>
          <a:p>
            <a:pPr algn="ctr"/>
            <a:r>
              <a:rPr lang="pt-BR" sz="1800" b="0" i="0" u="none" strike="noStrike" baseline="0" dirty="0">
                <a:solidFill>
                  <a:srgbClr val="70706F"/>
                </a:solidFill>
                <a:latin typeface="OpenSans-Light"/>
              </a:rPr>
              <a:t>O ciclo de carga e descarga para o Drive In </a:t>
            </a:r>
            <a:r>
              <a:rPr lang="pt-BR" sz="1800" b="0" i="0" u="none" strike="noStrike" baseline="0" dirty="0" err="1">
                <a:solidFill>
                  <a:srgbClr val="70706F"/>
                </a:solidFill>
                <a:latin typeface="OpenSans-Light"/>
              </a:rPr>
              <a:t>bi-frontal</a:t>
            </a:r>
            <a:r>
              <a:rPr lang="pt-BR" sz="1800" b="0" i="0" u="none" strike="noStrike" baseline="0" dirty="0">
                <a:solidFill>
                  <a:srgbClr val="70706F"/>
                </a:solidFill>
                <a:latin typeface="OpenSans-Light"/>
              </a:rPr>
              <a:t>, em lados opostos segue a mesma</a:t>
            </a:r>
          </a:p>
          <a:p>
            <a:pPr algn="ctr"/>
            <a:r>
              <a:rPr lang="pt-BR" sz="1800" b="0" i="0" u="none" strike="noStrike" baseline="0" dirty="0">
                <a:solidFill>
                  <a:srgbClr val="70706F"/>
                </a:solidFill>
                <a:latin typeface="OpenSans-Light"/>
              </a:rPr>
              <a:t>regra, considerando os dois lados, do meio para fora.</a:t>
            </a:r>
          </a:p>
          <a:p>
            <a:pPr algn="ctr"/>
            <a:endParaRPr lang="pt-BR" sz="2400" b="0" i="0" u="none" strike="noStrike" baseline="0" dirty="0">
              <a:solidFill>
                <a:srgbClr val="FFFFFF"/>
              </a:solidFill>
              <a:latin typeface="OpenSans-Extrabold"/>
            </a:endParaRPr>
          </a:p>
          <a:p>
            <a:pPr algn="ctr"/>
            <a:endParaRPr lang="pt-BR" sz="2400" dirty="0">
              <a:solidFill>
                <a:srgbClr val="FFFFFF"/>
              </a:solidFill>
              <a:latin typeface="OpenSans-Extrabold"/>
            </a:endParaRPr>
          </a:p>
          <a:p>
            <a:pPr algn="ctr"/>
            <a:endParaRPr lang="pt-BR" sz="2400" b="0" i="0" u="none" strike="noStrike" baseline="0" dirty="0">
              <a:solidFill>
                <a:srgbClr val="FFFFFF"/>
              </a:solidFill>
              <a:latin typeface="OpenSans-Extrabold"/>
            </a:endParaRPr>
          </a:p>
          <a:p>
            <a:pPr algn="ctr"/>
            <a:endParaRPr lang="pt-BR" sz="2400" b="0" i="0" u="none" strike="noStrike" baseline="0" dirty="0">
              <a:solidFill>
                <a:srgbClr val="FFFFFF"/>
              </a:solidFill>
              <a:latin typeface="OpenSans-Extrabold"/>
            </a:endParaRPr>
          </a:p>
          <a:p>
            <a:pPr algn="ctr"/>
            <a:endParaRPr lang="pt-BR" sz="2400" b="0" i="0" u="none" strike="noStrike" baseline="0" dirty="0">
              <a:solidFill>
                <a:srgbClr val="FFFFFF"/>
              </a:solidFill>
              <a:latin typeface="OpenSans-Extrabold"/>
            </a:endParaRPr>
          </a:p>
          <a:p>
            <a:pPr algn="ctr"/>
            <a:r>
              <a:rPr lang="pt-BR" sz="2400" b="0" i="0" u="none" strike="noStrike" baseline="0" dirty="0">
                <a:solidFill>
                  <a:srgbClr val="FFFFFF"/>
                </a:solidFill>
                <a:latin typeface="OpenSans-Extrabold"/>
              </a:rPr>
              <a:t>UTILIZAÇÃO</a:t>
            </a:r>
          </a:p>
          <a:p>
            <a:pPr algn="ctr"/>
            <a:endParaRPr lang="pt-BR" sz="1800" b="0" i="0" u="none" strike="noStrike" baseline="0" dirty="0">
              <a:solidFill>
                <a:srgbClr val="70706F"/>
              </a:solidFill>
              <a:latin typeface="OpenSans-Light"/>
            </a:endParaRPr>
          </a:p>
          <a:p>
            <a:pPr algn="ctr"/>
            <a:r>
              <a:rPr lang="pt-BR" sz="1800" b="0" i="0" u="none" strike="noStrike" baseline="0" dirty="0">
                <a:solidFill>
                  <a:srgbClr val="70706F"/>
                </a:solidFill>
                <a:latin typeface="OpenSans-Light"/>
              </a:rPr>
              <a:t>A descarga acontece de cima para baixo, começando com o palete 1 para o 9.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B7A92C5-38C4-5B72-B287-6E2F585D8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180" y="1792132"/>
            <a:ext cx="5115639" cy="225774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62DE97A-69D3-CF0C-C2BB-1A71C054B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496" y="4549540"/>
            <a:ext cx="5001323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17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EA3B-D74F-8430-D3CE-9A474DDC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FA2836D-453B-BA4B-07FA-1ABC6C6851F9}"/>
              </a:ext>
            </a:extLst>
          </p:cNvPr>
          <p:cNvSpPr txBox="1"/>
          <p:nvPr/>
        </p:nvSpPr>
        <p:spPr>
          <a:xfrm>
            <a:off x="3048000" y="3451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PROJETO DRIVE-IN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672667E-27E6-CE4B-BAF5-73718E580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298" y="806772"/>
            <a:ext cx="2419688" cy="582058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6639C86-DAE3-BD07-3F1D-0312EA205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046" y="1178298"/>
            <a:ext cx="4505954" cy="5077534"/>
          </a:xfrm>
          <a:prstGeom prst="rect">
            <a:avLst/>
          </a:prstGeom>
        </p:spPr>
      </p:pic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2C377FD6-7C09-8397-4318-2F2ED1DDBF3B}"/>
              </a:ext>
            </a:extLst>
          </p:cNvPr>
          <p:cNvCxnSpPr>
            <a:cxnSpLocks/>
          </p:cNvCxnSpPr>
          <p:nvPr/>
        </p:nvCxnSpPr>
        <p:spPr>
          <a:xfrm>
            <a:off x="5065484" y="1178298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D89D32BD-2714-BE6E-33E6-CB0E8222EDE0}"/>
              </a:ext>
            </a:extLst>
          </p:cNvPr>
          <p:cNvCxnSpPr>
            <a:cxnSpLocks/>
          </p:cNvCxnSpPr>
          <p:nvPr/>
        </p:nvCxnSpPr>
        <p:spPr>
          <a:xfrm>
            <a:off x="5979884" y="1178298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FE354ABF-8E2E-A516-3240-10B462C79477}"/>
              </a:ext>
            </a:extLst>
          </p:cNvPr>
          <p:cNvCxnSpPr>
            <a:cxnSpLocks/>
          </p:cNvCxnSpPr>
          <p:nvPr/>
        </p:nvCxnSpPr>
        <p:spPr>
          <a:xfrm>
            <a:off x="6894284" y="1178298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2067C7E6-504D-124E-086B-AE53541BA784}"/>
              </a:ext>
            </a:extLst>
          </p:cNvPr>
          <p:cNvCxnSpPr>
            <a:cxnSpLocks/>
          </p:cNvCxnSpPr>
          <p:nvPr/>
        </p:nvCxnSpPr>
        <p:spPr>
          <a:xfrm>
            <a:off x="7808684" y="1178298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E21F8F-2A26-1AF3-FFC4-2CFB945CDCDA}"/>
              </a:ext>
            </a:extLst>
          </p:cNvPr>
          <p:cNvSpPr txBox="1"/>
          <p:nvPr/>
        </p:nvSpPr>
        <p:spPr>
          <a:xfrm>
            <a:off x="5210154" y="870520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1025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38A1061-E379-6F4E-8C1D-2C215E237334}"/>
              </a:ext>
            </a:extLst>
          </p:cNvPr>
          <p:cNvSpPr txBox="1"/>
          <p:nvPr/>
        </p:nvSpPr>
        <p:spPr>
          <a:xfrm>
            <a:off x="6131075" y="870519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1025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5ED9E20-7457-FB6C-C6ED-0E4290819988}"/>
              </a:ext>
            </a:extLst>
          </p:cNvPr>
          <p:cNvSpPr txBox="1"/>
          <p:nvPr/>
        </p:nvSpPr>
        <p:spPr>
          <a:xfrm>
            <a:off x="7051996" y="870518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1025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779CD01-E704-C364-FD3F-7508971EA41B}"/>
              </a:ext>
            </a:extLst>
          </p:cNvPr>
          <p:cNvSpPr txBox="1"/>
          <p:nvPr/>
        </p:nvSpPr>
        <p:spPr>
          <a:xfrm>
            <a:off x="7947924" y="870518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1025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350E4ED1-AFF3-D11E-F45E-D10A60E23BBF}"/>
              </a:ext>
            </a:extLst>
          </p:cNvPr>
          <p:cNvCxnSpPr>
            <a:cxnSpLocks/>
          </p:cNvCxnSpPr>
          <p:nvPr/>
        </p:nvCxnSpPr>
        <p:spPr>
          <a:xfrm>
            <a:off x="9150523" y="1178296"/>
            <a:ext cx="1486506" cy="708561"/>
          </a:xfrm>
          <a:prstGeom prst="bentConnector3">
            <a:avLst>
              <a:gd name="adj1" fmla="val 9979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3978E3A-69B7-045F-C3CE-0F53EA9A60A6}"/>
              </a:ext>
            </a:extLst>
          </p:cNvPr>
          <p:cNvSpPr txBox="1"/>
          <p:nvPr/>
        </p:nvSpPr>
        <p:spPr>
          <a:xfrm>
            <a:off x="9013371" y="2208789"/>
            <a:ext cx="3107965" cy="175432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Profundidade da Montante pode variar em estruturas de 8,5 metros de altura conforme indicado nos formulários </a:t>
            </a:r>
            <a:r>
              <a:rPr lang="pt-BR" b="1" dirty="0"/>
              <a:t>F-350</a:t>
            </a:r>
            <a:r>
              <a:rPr lang="pt-BR" dirty="0"/>
              <a:t> e </a:t>
            </a:r>
            <a:r>
              <a:rPr lang="pt-BR" b="1" dirty="0"/>
              <a:t>F-351</a:t>
            </a:r>
            <a:r>
              <a:rPr lang="pt-BR" dirty="0"/>
              <a:t>.</a:t>
            </a:r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36DCEBF8-D566-6802-ED6D-796DBE3E8942}"/>
              </a:ext>
            </a:extLst>
          </p:cNvPr>
          <p:cNvCxnSpPr>
            <a:cxnSpLocks/>
          </p:cNvCxnSpPr>
          <p:nvPr/>
        </p:nvCxnSpPr>
        <p:spPr>
          <a:xfrm>
            <a:off x="1383405" y="4022242"/>
            <a:ext cx="776163" cy="4046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04936E1-7554-8B99-A9DD-BF322C94DF3B}"/>
              </a:ext>
            </a:extLst>
          </p:cNvPr>
          <p:cNvSpPr txBox="1"/>
          <p:nvPr/>
        </p:nvSpPr>
        <p:spPr>
          <a:xfrm>
            <a:off x="70664" y="3449712"/>
            <a:ext cx="2210931" cy="52322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Braço no primeiro nível </a:t>
            </a:r>
            <a:r>
              <a:rPr lang="pt-BR" sz="1600" b="1" dirty="0">
                <a:solidFill>
                  <a:schemeClr val="tx1"/>
                </a:solidFill>
              </a:rPr>
              <a:t>180 mm</a:t>
            </a:r>
            <a:endParaRPr lang="pt-BR" sz="1200" b="1" dirty="0">
              <a:solidFill>
                <a:schemeClr val="tx1"/>
              </a:solidFill>
            </a:endParaRPr>
          </a:p>
        </p:txBody>
      </p: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B76B96F6-976E-F082-1920-BBD5E7DBC335}"/>
              </a:ext>
            </a:extLst>
          </p:cNvPr>
          <p:cNvCxnSpPr>
            <a:cxnSpLocks/>
          </p:cNvCxnSpPr>
          <p:nvPr/>
        </p:nvCxnSpPr>
        <p:spPr>
          <a:xfrm>
            <a:off x="1383405" y="2301122"/>
            <a:ext cx="776163" cy="4046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E68E4CC1-2784-428E-100A-C0A429618D93}"/>
              </a:ext>
            </a:extLst>
          </p:cNvPr>
          <p:cNvSpPr txBox="1"/>
          <p:nvPr/>
        </p:nvSpPr>
        <p:spPr>
          <a:xfrm>
            <a:off x="70664" y="1539905"/>
            <a:ext cx="2210931" cy="70788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Braço no segundo nível em diante</a:t>
            </a:r>
          </a:p>
          <a:p>
            <a:pPr algn="ctr"/>
            <a:r>
              <a:rPr lang="pt-BR" sz="1200" b="1" dirty="0">
                <a:solidFill>
                  <a:schemeClr val="tx1"/>
                </a:solidFill>
              </a:rPr>
              <a:t> </a:t>
            </a:r>
            <a:r>
              <a:rPr lang="pt-BR" sz="1600" b="1" dirty="0">
                <a:solidFill>
                  <a:schemeClr val="tx1"/>
                </a:solidFill>
              </a:rPr>
              <a:t>230 mm</a:t>
            </a:r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EAA4EF-5B40-A871-9DAC-74F4A6B064F3}"/>
              </a:ext>
            </a:extLst>
          </p:cNvPr>
          <p:cNvSpPr txBox="1"/>
          <p:nvPr/>
        </p:nvSpPr>
        <p:spPr>
          <a:xfrm>
            <a:off x="9013370" y="5365132"/>
            <a:ext cx="3107965" cy="1477328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dirty="0"/>
              <a:t>As diagonais devem sempre estar direcionadas para dentro da rua, ou seja, sedo </a:t>
            </a:r>
            <a:r>
              <a:rPr lang="pt-BR" b="1" dirty="0">
                <a:solidFill>
                  <a:srgbClr val="00B050"/>
                </a:solidFill>
              </a:rPr>
              <a:t>tracionadas</a:t>
            </a:r>
            <a:r>
              <a:rPr lang="pt-BR" dirty="0"/>
              <a:t>.</a:t>
            </a:r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3DB1A311-0FE7-6C8D-D698-4B4A69735191}"/>
              </a:ext>
            </a:extLst>
          </p:cNvPr>
          <p:cNvCxnSpPr>
            <a:cxnSpLocks/>
          </p:cNvCxnSpPr>
          <p:nvPr/>
        </p:nvCxnSpPr>
        <p:spPr>
          <a:xfrm rot="10800000">
            <a:off x="8813066" y="4334641"/>
            <a:ext cx="1754286" cy="844707"/>
          </a:xfrm>
          <a:prstGeom prst="bentConnector3">
            <a:avLst>
              <a:gd name="adj1" fmla="val 126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3735C557-9250-F2AE-8110-EEF8752EB8D1}"/>
              </a:ext>
            </a:extLst>
          </p:cNvPr>
          <p:cNvSpPr/>
          <p:nvPr/>
        </p:nvSpPr>
        <p:spPr>
          <a:xfrm>
            <a:off x="7749623" y="3258158"/>
            <a:ext cx="1263747" cy="1337593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0BC21D6-3180-D811-1AFD-99A2CE6E674A}"/>
              </a:ext>
            </a:extLst>
          </p:cNvPr>
          <p:cNvCxnSpPr/>
          <p:nvPr/>
        </p:nvCxnSpPr>
        <p:spPr>
          <a:xfrm flipH="1" flipV="1">
            <a:off x="8312727" y="3798607"/>
            <a:ext cx="332824" cy="329016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5654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64F8-3653-9B3A-5171-27A85640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6B891F7-3809-B66E-0207-8C6E04ED3E9C}"/>
              </a:ext>
            </a:extLst>
          </p:cNvPr>
          <p:cNvSpPr txBox="1"/>
          <p:nvPr/>
        </p:nvSpPr>
        <p:spPr>
          <a:xfrm>
            <a:off x="3048000" y="3451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PROJETO DRIVE-IN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808B24-8B56-EB12-31C4-6373DAAD60FC}"/>
              </a:ext>
            </a:extLst>
          </p:cNvPr>
          <p:cNvSpPr txBox="1"/>
          <p:nvPr/>
        </p:nvSpPr>
        <p:spPr>
          <a:xfrm>
            <a:off x="304800" y="1394194"/>
            <a:ext cx="63594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rgbClr val="EF8123"/>
                </a:solidFill>
              </a:rPr>
              <a:t>VARIÁVEIS IMPORTANTES NO PROJETO DE DRIVE-IN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94D9F9-6319-C696-2964-806F2FFE4068}"/>
              </a:ext>
            </a:extLst>
          </p:cNvPr>
          <p:cNvSpPr txBox="1"/>
          <p:nvPr/>
        </p:nvSpPr>
        <p:spPr>
          <a:xfrm>
            <a:off x="304800" y="1696063"/>
            <a:ext cx="6124625" cy="4916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Altura Máxima da Estrutura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Altura do Palete 1º Nível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Altura do Palete 2º Nível em diante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Palete é PBR?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Número de Ruas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Número de Paletes na Profundidade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Carga do Palete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Mercadoria excede as dimensões do Palete?</a:t>
            </a:r>
          </a:p>
        </p:txBody>
      </p:sp>
    </p:spTree>
    <p:extLst>
      <p:ext uri="{BB962C8B-B14F-4D97-AF65-F5344CB8AC3E}">
        <p14:creationId xmlns:p14="http://schemas.microsoft.com/office/powerpoint/2010/main" val="3417245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5714-A5BA-891A-2073-3E8722A00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D7D1859-A3D8-188D-5883-5F3B1A0FB71C}"/>
              </a:ext>
            </a:extLst>
          </p:cNvPr>
          <p:cNvSpPr txBox="1"/>
          <p:nvPr/>
        </p:nvSpPr>
        <p:spPr>
          <a:xfrm>
            <a:off x="2902857" y="359621"/>
            <a:ext cx="638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PLANILHA DE SELEÇÃO DA COLUNA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CC1FE7-3551-DBE0-4C04-07C372C7F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549" y="821286"/>
            <a:ext cx="9798902" cy="596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81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6CD0D-4217-6BED-0BF6-B95CBCD6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DCA99B6-F7D3-B696-A5D3-12F6D6881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22" y="806772"/>
            <a:ext cx="9975955" cy="601874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7874EB4-2ABE-6557-1075-F0B8366EE411}"/>
              </a:ext>
            </a:extLst>
          </p:cNvPr>
          <p:cNvSpPr txBox="1"/>
          <p:nvPr/>
        </p:nvSpPr>
        <p:spPr>
          <a:xfrm>
            <a:off x="2902857" y="359621"/>
            <a:ext cx="638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PLANILHA DE SELEÇÃO DA COLUNA</a:t>
            </a:r>
          </a:p>
        </p:txBody>
      </p:sp>
    </p:spTree>
    <p:extLst>
      <p:ext uri="{BB962C8B-B14F-4D97-AF65-F5344CB8AC3E}">
        <p14:creationId xmlns:p14="http://schemas.microsoft.com/office/powerpoint/2010/main" val="3251733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B6612-819C-B3C8-F422-93EE64BBC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1E11E21-E92D-C096-D698-9CCD796D6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12" y="763228"/>
            <a:ext cx="9735775" cy="603879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D3FCC1E-D860-C5D2-712D-319272B4AD5F}"/>
              </a:ext>
            </a:extLst>
          </p:cNvPr>
          <p:cNvSpPr txBox="1"/>
          <p:nvPr/>
        </p:nvSpPr>
        <p:spPr>
          <a:xfrm>
            <a:off x="2902857" y="359621"/>
            <a:ext cx="638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PLANILHA DE SELEÇÃO DA COLUNA</a:t>
            </a:r>
          </a:p>
        </p:txBody>
      </p:sp>
    </p:spTree>
    <p:extLst>
      <p:ext uri="{BB962C8B-B14F-4D97-AF65-F5344CB8AC3E}">
        <p14:creationId xmlns:p14="http://schemas.microsoft.com/office/powerpoint/2010/main" val="2088888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0AFAC-0FAF-BB32-0D4C-B496F908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7F5039B-775B-7013-B58F-89637DC26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65" y="763230"/>
            <a:ext cx="9903670" cy="601082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03AF49D-A7DE-FE5C-7A96-3DC5285090BE}"/>
              </a:ext>
            </a:extLst>
          </p:cNvPr>
          <p:cNvSpPr txBox="1"/>
          <p:nvPr/>
        </p:nvSpPr>
        <p:spPr>
          <a:xfrm>
            <a:off x="2902857" y="359621"/>
            <a:ext cx="638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PLANILHA DE SELEÇÃO DA COLUNA</a:t>
            </a:r>
          </a:p>
        </p:txBody>
      </p:sp>
    </p:spTree>
    <p:extLst>
      <p:ext uri="{BB962C8B-B14F-4D97-AF65-F5344CB8AC3E}">
        <p14:creationId xmlns:p14="http://schemas.microsoft.com/office/powerpoint/2010/main" val="2864416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D239B-2148-CA55-1E89-48AC8A69F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A2B05D5-81D5-3953-B585-531B63B71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93" y="806772"/>
            <a:ext cx="9540813" cy="604137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8C127D5-F0E9-0A74-3135-1BAF88547666}"/>
              </a:ext>
            </a:extLst>
          </p:cNvPr>
          <p:cNvSpPr txBox="1"/>
          <p:nvPr/>
        </p:nvSpPr>
        <p:spPr>
          <a:xfrm>
            <a:off x="2902857" y="359621"/>
            <a:ext cx="638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PLANILHA DE SELEÇÃO DA COLUNA</a:t>
            </a:r>
          </a:p>
        </p:txBody>
      </p:sp>
    </p:spTree>
    <p:extLst>
      <p:ext uri="{BB962C8B-B14F-4D97-AF65-F5344CB8AC3E}">
        <p14:creationId xmlns:p14="http://schemas.microsoft.com/office/powerpoint/2010/main" val="3710167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36FB-5418-FD2B-E19F-EB1B6A03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35554E3-7EEB-D431-5303-D367AB9F8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560" y="792258"/>
            <a:ext cx="9458879" cy="599969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0649F24-0832-E3C2-0147-5141686A94C5}"/>
              </a:ext>
            </a:extLst>
          </p:cNvPr>
          <p:cNvSpPr txBox="1"/>
          <p:nvPr/>
        </p:nvSpPr>
        <p:spPr>
          <a:xfrm>
            <a:off x="2902857" y="359621"/>
            <a:ext cx="6386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PLANILHA DE SELEÇÃO DA COLUNA</a:t>
            </a:r>
          </a:p>
        </p:txBody>
      </p:sp>
    </p:spTree>
    <p:extLst>
      <p:ext uri="{BB962C8B-B14F-4D97-AF65-F5344CB8AC3E}">
        <p14:creationId xmlns:p14="http://schemas.microsoft.com/office/powerpoint/2010/main" val="22002531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4D4C-5B85-F7E8-A3BA-CAD24EF7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06E4E62-3DB8-61A0-AF57-DB04EED3A7BE}"/>
              </a:ext>
            </a:extLst>
          </p:cNvPr>
          <p:cNvSpPr txBox="1"/>
          <p:nvPr/>
        </p:nvSpPr>
        <p:spPr>
          <a:xfrm>
            <a:off x="2423885" y="301564"/>
            <a:ext cx="7344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PLANILHA DE LEVANTAMENTO DE PESO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2AAABFC-3744-82F7-9561-097ED83F0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042204"/>
              </p:ext>
            </p:extLst>
          </p:nvPr>
        </p:nvGraphicFramePr>
        <p:xfrm>
          <a:off x="2667683" y="1228725"/>
          <a:ext cx="7019243" cy="5116867"/>
        </p:xfrm>
        <a:graphic>
          <a:graphicData uri="http://schemas.openxmlformats.org/drawingml/2006/table">
            <a:tbl>
              <a:tblPr/>
              <a:tblGrid>
                <a:gridCol w="366094">
                  <a:extLst>
                    <a:ext uri="{9D8B030D-6E8A-4147-A177-3AD203B41FA5}">
                      <a16:colId xmlns:a16="http://schemas.microsoft.com/office/drawing/2014/main" val="343691511"/>
                    </a:ext>
                  </a:extLst>
                </a:gridCol>
                <a:gridCol w="346569">
                  <a:extLst>
                    <a:ext uri="{9D8B030D-6E8A-4147-A177-3AD203B41FA5}">
                      <a16:colId xmlns:a16="http://schemas.microsoft.com/office/drawing/2014/main" val="490444962"/>
                    </a:ext>
                  </a:extLst>
                </a:gridCol>
                <a:gridCol w="1752369">
                  <a:extLst>
                    <a:ext uri="{9D8B030D-6E8A-4147-A177-3AD203B41FA5}">
                      <a16:colId xmlns:a16="http://schemas.microsoft.com/office/drawing/2014/main" val="33217388"/>
                    </a:ext>
                  </a:extLst>
                </a:gridCol>
                <a:gridCol w="229419">
                  <a:extLst>
                    <a:ext uri="{9D8B030D-6E8A-4147-A177-3AD203B41FA5}">
                      <a16:colId xmlns:a16="http://schemas.microsoft.com/office/drawing/2014/main" val="1645949116"/>
                    </a:ext>
                  </a:extLst>
                </a:gridCol>
                <a:gridCol w="546700">
                  <a:extLst>
                    <a:ext uri="{9D8B030D-6E8A-4147-A177-3AD203B41FA5}">
                      <a16:colId xmlns:a16="http://schemas.microsoft.com/office/drawing/2014/main" val="2491413671"/>
                    </a:ext>
                  </a:extLst>
                </a:gridCol>
                <a:gridCol w="268468">
                  <a:extLst>
                    <a:ext uri="{9D8B030D-6E8A-4147-A177-3AD203B41FA5}">
                      <a16:colId xmlns:a16="http://schemas.microsoft.com/office/drawing/2014/main" val="2123681169"/>
                    </a:ext>
                  </a:extLst>
                </a:gridCol>
                <a:gridCol w="268468">
                  <a:extLst>
                    <a:ext uri="{9D8B030D-6E8A-4147-A177-3AD203B41FA5}">
                      <a16:colId xmlns:a16="http://schemas.microsoft.com/office/drawing/2014/main" val="2620553129"/>
                    </a:ext>
                  </a:extLst>
                </a:gridCol>
                <a:gridCol w="414907">
                  <a:extLst>
                    <a:ext uri="{9D8B030D-6E8A-4147-A177-3AD203B41FA5}">
                      <a16:colId xmlns:a16="http://schemas.microsoft.com/office/drawing/2014/main" val="796099180"/>
                    </a:ext>
                  </a:extLst>
                </a:gridCol>
                <a:gridCol w="390501">
                  <a:extLst>
                    <a:ext uri="{9D8B030D-6E8A-4147-A177-3AD203B41FA5}">
                      <a16:colId xmlns:a16="http://schemas.microsoft.com/office/drawing/2014/main" val="1670305512"/>
                    </a:ext>
                  </a:extLst>
                </a:gridCol>
                <a:gridCol w="112269">
                  <a:extLst>
                    <a:ext uri="{9D8B030D-6E8A-4147-A177-3AD203B41FA5}">
                      <a16:colId xmlns:a16="http://schemas.microsoft.com/office/drawing/2014/main" val="2905714590"/>
                    </a:ext>
                  </a:extLst>
                </a:gridCol>
                <a:gridCol w="405144">
                  <a:extLst>
                    <a:ext uri="{9D8B030D-6E8A-4147-A177-3AD203B41FA5}">
                      <a16:colId xmlns:a16="http://schemas.microsoft.com/office/drawing/2014/main" val="1688014658"/>
                    </a:ext>
                  </a:extLst>
                </a:gridCol>
                <a:gridCol w="307519">
                  <a:extLst>
                    <a:ext uri="{9D8B030D-6E8A-4147-A177-3AD203B41FA5}">
                      <a16:colId xmlns:a16="http://schemas.microsoft.com/office/drawing/2014/main" val="1870309693"/>
                    </a:ext>
                  </a:extLst>
                </a:gridCol>
                <a:gridCol w="283113">
                  <a:extLst>
                    <a:ext uri="{9D8B030D-6E8A-4147-A177-3AD203B41FA5}">
                      <a16:colId xmlns:a16="http://schemas.microsoft.com/office/drawing/2014/main" val="1065059581"/>
                    </a:ext>
                  </a:extLst>
                </a:gridCol>
                <a:gridCol w="395382">
                  <a:extLst>
                    <a:ext uri="{9D8B030D-6E8A-4147-A177-3AD203B41FA5}">
                      <a16:colId xmlns:a16="http://schemas.microsoft.com/office/drawing/2014/main" val="2289731244"/>
                    </a:ext>
                  </a:extLst>
                </a:gridCol>
                <a:gridCol w="331926">
                  <a:extLst>
                    <a:ext uri="{9D8B030D-6E8A-4147-A177-3AD203B41FA5}">
                      <a16:colId xmlns:a16="http://schemas.microsoft.com/office/drawing/2014/main" val="106336507"/>
                    </a:ext>
                  </a:extLst>
                </a:gridCol>
                <a:gridCol w="453957">
                  <a:extLst>
                    <a:ext uri="{9D8B030D-6E8A-4147-A177-3AD203B41FA5}">
                      <a16:colId xmlns:a16="http://schemas.microsoft.com/office/drawing/2014/main" val="1164465333"/>
                    </a:ext>
                  </a:extLst>
                </a:gridCol>
                <a:gridCol w="146438">
                  <a:extLst>
                    <a:ext uri="{9D8B030D-6E8A-4147-A177-3AD203B41FA5}">
                      <a16:colId xmlns:a16="http://schemas.microsoft.com/office/drawing/2014/main" val="1483155852"/>
                    </a:ext>
                  </a:extLst>
                </a:gridCol>
              </a:tblGrid>
              <a:tr h="333867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F 379 - Planilha Levantamento de Peso DRIVE IN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  <a:endParaRPr lang="pt-BR" sz="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137972"/>
                  </a:ext>
                </a:extLst>
              </a:tr>
              <a:tr h="85407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5" gridSpan="2">
                  <a:txBody>
                    <a:bodyPr/>
                    <a:lstStyle/>
                    <a:p>
                      <a:pPr algn="ctr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5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gridSpan="10">
                  <a:txBody>
                    <a:bodyPr/>
                    <a:lstStyle/>
                    <a:p>
                      <a:pPr algn="ctr" fontAlgn="b"/>
                      <a:endParaRPr lang="pt-BR" sz="400" b="0" i="0" u="none" strike="noStrike" dirty="0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19388"/>
                  </a:ext>
                </a:extLst>
              </a:tr>
              <a:tr h="85407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Palete Padrão PBR?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Sim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0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259136"/>
                  </a:ext>
                </a:extLst>
              </a:tr>
              <a:tr h="85407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Tipo de Coluna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AMPP122#1,8mm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Dimensões da Estrutura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373504"/>
                  </a:ext>
                </a:extLst>
              </a:tr>
              <a:tr h="85407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Coluna Solteira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NÃO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Altura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Largura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3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Profundidade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Coluna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Posição Palete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Kg/ Posição Palete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803887"/>
                  </a:ext>
                </a:extLst>
              </a:tr>
              <a:tr h="85407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Quantidae de espaçamentos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8200mm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12298mm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7275mm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122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224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29,74 kg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795180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Número de Paletes por Rua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gridSpan="12">
                  <a:txBody>
                    <a:bodyPr/>
                    <a:lstStyle/>
                    <a:p>
                      <a:pPr algn="ctr" fontAlgn="b"/>
                      <a:endParaRPr lang="pt-BR" sz="400" b="0" i="0" u="none" strike="noStrike" dirty="0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11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184259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Qtde de níveis (Chão + Niveis)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432524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Qtde de ruas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268182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Espaçamento entre Colunas(Formulario de Dimensionamento)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1025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244437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Altura dos montantes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8200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487677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Largura da Rua é 1400mm?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Sim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047180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Carga Total do Palete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1000 kg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067283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Altura Total do Palete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1800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56261"/>
                  </a:ext>
                </a:extLst>
              </a:tr>
              <a:tr h="8152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Altura 1° Nivel(Chão)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1900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036338"/>
                  </a:ext>
                </a:extLst>
              </a:tr>
              <a:tr h="85407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Qtde de conjuntos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452761"/>
                  </a:ext>
                </a:extLst>
              </a:tr>
              <a:tr h="85407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Qtde de montantes por conjunto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1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015599"/>
                  </a:ext>
                </a:extLst>
              </a:tr>
              <a:tr h="85407"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15753"/>
                  </a:ext>
                </a:extLst>
              </a:tr>
              <a:tr h="85407">
                <a:tc gridSpan="17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Lista de Peças Drive in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535701"/>
                  </a:ext>
                </a:extLst>
              </a:tr>
              <a:tr h="85407"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QTD.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Descrição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Dimensão (CxPxA)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Peso Unitário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Peso 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R$/ Kg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79646"/>
                          </a:highlight>
                          <a:latin typeface="Azo Sans" panose="02000000000000000000" pitchFamily="50" charset="0"/>
                        </a:rPr>
                        <a:t>R$ Total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263652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AMPP122#1,8mm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8200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34,75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2501,72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53586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AMPP122#1,8mm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864783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396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Travessa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941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0,84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332,14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763506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324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Diagonal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1313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1,17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379,18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891649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Sapata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1,35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97,20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391416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144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Placa niveladora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32,40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001481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Tala de Junção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964042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Travessa Coluna Solteira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60947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Diagonal superior 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1735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1,55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49,49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851288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Diagonal superior 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1735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1,55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37,12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701204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Diagonal amarração de fundo 1° NIVEL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2360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2,10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16,83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443466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Diagonal amarração de fundo 2° NIVEL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2126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1,89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45,48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420633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LG-UE/80#16  contraventamento superior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1,5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3,44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220,30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320298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LG-UE/80#16 contraventamento fundo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1400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1,5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3,46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97,02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504806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Viga túnel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7200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2,0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19,92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956,18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374344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Viga Completemento Túnel Fundo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1060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176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2,0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2,93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140,59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792935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Braço simples 180mm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1,90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34,20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927781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56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Braço duplo 180mm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2,10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117,60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095435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Braço simples 230mm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2,50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120,00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068829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168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Braço duplo 230mm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2,80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470,40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675791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Protetor Coluna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6250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64,22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578,02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312748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Protetor Caneleira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2,50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22,50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738932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Stop Palllet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1,00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96,00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661121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1892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Parafuso 5/16 x 3/4"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82061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3784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Arruela 5/16"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498591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706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Parafuso Frances 5/16"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345927"/>
                  </a:ext>
                </a:extLst>
              </a:tr>
              <a:tr h="8152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288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Chumbador 3/8 x 3"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476490"/>
                  </a:ext>
                </a:extLst>
              </a:tr>
              <a:tr h="8540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2598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Porca 5/16"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0,00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 R$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B050"/>
                          </a:highlight>
                          <a:latin typeface="Azo Sans" panose="02000000000000000000" pitchFamily="50" charset="0"/>
                        </a:rPr>
                        <a:t> R$                                   - 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716697"/>
                  </a:ext>
                </a:extLst>
              </a:tr>
              <a:tr h="104818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pt-BR" sz="500" b="1" i="0" u="none" strike="noStrike">
                          <a:solidFill>
                            <a:srgbClr val="0070C0"/>
                          </a:solidFill>
                          <a:effectLst/>
                          <a:latin typeface="Azo Sans" panose="02000000000000000000" pitchFamily="50" charset="0"/>
                        </a:rPr>
                        <a:t>Total Estrutura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500" b="1" i="0" u="none" strike="noStrike">
                          <a:solidFill>
                            <a:srgbClr val="0070C0"/>
                          </a:solidFill>
                          <a:effectLst/>
                          <a:latin typeface="Azo Sans" panose="02000000000000000000" pitchFamily="50" charset="0"/>
                        </a:rPr>
                        <a:t>6344,36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500" b="1" i="0" u="none" strike="noStrike">
                          <a:solidFill>
                            <a:srgbClr val="0070C0"/>
                          </a:solidFill>
                          <a:effectLst/>
                          <a:latin typeface="Azo Sans" panose="02000000000000000000" pitchFamily="50" charset="0"/>
                        </a:rPr>
                        <a:t>0,000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500" b="1" i="0" u="none" strike="noStrike">
                          <a:solidFill>
                            <a:srgbClr val="0070C0"/>
                          </a:solidFill>
                          <a:effectLst/>
                          <a:latin typeface="Azo Sans" panose="02000000000000000000" pitchFamily="50" charset="0"/>
                        </a:rPr>
                        <a:t>0,000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48796"/>
                  </a:ext>
                </a:extLst>
              </a:tr>
              <a:tr h="104818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pt-BR" sz="500" b="1" i="0" u="none" strike="noStrike">
                          <a:solidFill>
                            <a:srgbClr val="0070C0"/>
                          </a:solidFill>
                          <a:effectLst/>
                          <a:latin typeface="Azo Sans" panose="02000000000000000000" pitchFamily="50" charset="0"/>
                        </a:rPr>
                        <a:t>Total Estrutura + 5% fixadores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500" b="1" i="0" u="none" strike="noStrike">
                          <a:solidFill>
                            <a:srgbClr val="0070C0"/>
                          </a:solidFill>
                          <a:effectLst/>
                          <a:latin typeface="Azo Sans" panose="02000000000000000000" pitchFamily="50" charset="0"/>
                        </a:rPr>
                        <a:t>6661,58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500" b="1" i="0" u="none" strike="noStrike">
                          <a:solidFill>
                            <a:srgbClr val="0070C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500" b="1" i="0" u="none" strike="noStrike">
                          <a:solidFill>
                            <a:srgbClr val="0070C0"/>
                          </a:solidFill>
                          <a:effectLst/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742223"/>
                  </a:ext>
                </a:extLst>
              </a:tr>
              <a:tr h="85407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latin typeface="Azo Sans" panose="02000000000000000000" pitchFamily="50" charset="0"/>
                        </a:rPr>
                        <a:t>ALTERAR CONFORME DIMENSIONAMENTO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642844"/>
                  </a:ext>
                </a:extLst>
              </a:tr>
              <a:tr h="85407">
                <a:tc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Azo Sans" panose="02000000000000000000" pitchFamily="50" charset="0"/>
                        </a:rPr>
                        <a:t>NÃO ALTEARAR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029718"/>
                  </a:ext>
                </a:extLst>
              </a:tr>
              <a:tr h="85407"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zo Sans" panose="02000000000000000000" pitchFamily="50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771686"/>
                  </a:ext>
                </a:extLst>
              </a:tr>
              <a:tr h="85407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Data da Elaboração : 03/02/2024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Elaborado por: Gean Arnold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Autorizado por:Ronaldo Branco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886678"/>
                  </a:ext>
                </a:extLst>
              </a:tr>
              <a:tr h="142929">
                <a:tc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Data da Revisão: -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Revisado por: Marcelo Rios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870893"/>
                  </a:ext>
                </a:extLst>
              </a:tr>
              <a:tr h="214394">
                <a:tc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N° Revisão: REV.00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l" fontAlgn="ctr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BFBFBF"/>
                          </a:highlight>
                          <a:latin typeface="Azo Sans" panose="02000000000000000000" pitchFamily="50" charset="0"/>
                        </a:rPr>
                        <a:t>Motivo da Revisão: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298836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508FFBD3-46EF-FB49-3571-EF1F748911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8" t="35561" r="5234" b="32112"/>
          <a:stretch/>
        </p:blipFill>
        <p:spPr>
          <a:xfrm>
            <a:off x="14395450" y="1855788"/>
            <a:ext cx="2901950" cy="739775"/>
          </a:xfrm>
          <a:prstGeom prst="rect">
            <a:avLst/>
          </a:prstGeom>
        </p:spPr>
      </p:pic>
      <p:sp>
        <p:nvSpPr>
          <p:cNvPr id="10" name="Retângulo: Cantos Arredondados 9">
            <a:hlinkClick r:id="rId3" action="ppaction://hlinkfile"/>
            <a:extLst>
              <a:ext uri="{FF2B5EF4-FFF2-40B4-BE49-F238E27FC236}">
                <a16:creationId xmlns:a16="http://schemas.microsoft.com/office/drawing/2014/main" id="{1FF1A11D-55D3-0006-552B-387071544600}"/>
              </a:ext>
            </a:extLst>
          </p:cNvPr>
          <p:cNvSpPr/>
          <p:nvPr/>
        </p:nvSpPr>
        <p:spPr>
          <a:xfrm>
            <a:off x="10210800" y="5410200"/>
            <a:ext cx="1466850" cy="8001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PLANILHA</a:t>
            </a:r>
          </a:p>
        </p:txBody>
      </p:sp>
    </p:spTree>
    <p:extLst>
      <p:ext uri="{BB962C8B-B14F-4D97-AF65-F5344CB8AC3E}">
        <p14:creationId xmlns:p14="http://schemas.microsoft.com/office/powerpoint/2010/main" val="1232131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64F8-3653-9B3A-5171-27A85640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6B891F7-3809-B66E-0207-8C6E04ED3E9C}"/>
              </a:ext>
            </a:extLst>
          </p:cNvPr>
          <p:cNvSpPr txBox="1"/>
          <p:nvPr/>
        </p:nvSpPr>
        <p:spPr>
          <a:xfrm>
            <a:off x="3048000" y="34510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0070C0"/>
                </a:solidFill>
              </a:rPr>
              <a:t>PROJETO DRIVE-IN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8B200ED-A7D6-2A71-E700-F93844BA09BC}"/>
              </a:ext>
            </a:extLst>
          </p:cNvPr>
          <p:cNvSpPr/>
          <p:nvPr/>
        </p:nvSpPr>
        <p:spPr>
          <a:xfrm>
            <a:off x="4752391" y="2789853"/>
            <a:ext cx="2687217" cy="127829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hlinkClick r:id="rId2" action="ppaction://hlinkfile"/>
              </a:rPr>
              <a:t>PROJETO MODELO DRIVE-IN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1180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1496</Words>
  <Application>Microsoft Office PowerPoint</Application>
  <PresentationFormat>Widescreen</PresentationFormat>
  <Paragraphs>480</Paragraphs>
  <Slides>26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5" baseType="lpstr">
      <vt:lpstr>Arial</vt:lpstr>
      <vt:lpstr>Azo Sans</vt:lpstr>
      <vt:lpstr>Calibri</vt:lpstr>
      <vt:lpstr>OpenSans-Bold</vt:lpstr>
      <vt:lpstr>OpenSans-Extrabold</vt:lpstr>
      <vt:lpstr>OpenSans-Light</vt:lpstr>
      <vt:lpstr>Symbol</vt:lpstr>
      <vt:lpstr>Verdana</vt:lpstr>
      <vt:lpstr>Tema do Office</vt:lpstr>
      <vt:lpstr>Apresentação do PowerPoint</vt:lpstr>
      <vt:lpstr>Apresentação do PowerPoint</vt:lpstr>
      <vt:lpstr>TREINAMENTO DRIVE-IN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Mark02</dc:creator>
  <cp:lastModifiedBy>Gean.batista</cp:lastModifiedBy>
  <cp:revision>57</cp:revision>
  <dcterms:created xsi:type="dcterms:W3CDTF">2021-03-01T14:20:49Z</dcterms:created>
  <dcterms:modified xsi:type="dcterms:W3CDTF">2024-09-13T14:06:37Z</dcterms:modified>
</cp:coreProperties>
</file>